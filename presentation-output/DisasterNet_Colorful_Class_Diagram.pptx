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f4c3624dd245cc" /><Relationship Type="http://schemas.openxmlformats.org/officeDocument/2006/relationships/extended-properties" Target="/docProps/app.xml" Id="R0e92357c819c4631" /><Relationship Type="http://schemas.openxmlformats.org/officeDocument/2006/relationships/officeDocument" Target="/ppt/presentation.xml" Id="R41d1f45791b443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b4b1aa3d074b50"/>
  </p:sldMasterIdLst>
  <p:notesMasterIdLst>
    <p:notesMasterId xmlns:r="http://schemas.openxmlformats.org/officeDocument/2006/relationships" r:id="R2e45a7e374d1444c"/>
  </p:notesMasterIdLst>
  <p:sldIdLst>
    <p:sldId xmlns:r="http://schemas.openxmlformats.org/officeDocument/2006/relationships" id="256" r:id="R0c18e7acb88d4258"/>
    <p:sldId xmlns:r="http://schemas.openxmlformats.org/officeDocument/2006/relationships" id="257" r:id="R69f9e220796b4eb1"/>
    <p:sldId xmlns:r="http://schemas.openxmlformats.org/officeDocument/2006/relationships" id="258" r:id="R457fad71b6624b25"/>
    <p:sldId xmlns:r="http://schemas.openxmlformats.org/officeDocument/2006/relationships" id="259" r:id="R98ca461c6d154a25"/>
    <p:sldId xmlns:r="http://schemas.openxmlformats.org/officeDocument/2006/relationships" id="260" r:id="R3e7443e94c6b4a98"/>
    <p:sldId xmlns:r="http://schemas.openxmlformats.org/officeDocument/2006/relationships" id="261" r:id="R6ba82fc1bb21460c"/>
    <p:sldId xmlns:r="http://schemas.openxmlformats.org/officeDocument/2006/relationships" id="262" r:id="R09a744439738494b"/>
    <p:sldId xmlns:r="http://schemas.openxmlformats.org/officeDocument/2006/relationships" id="263" r:id="Rd5ff748ac1504af3"/>
    <p:sldId xmlns:r="http://schemas.openxmlformats.org/officeDocument/2006/relationships" id="264" r:id="R4c3e580c0c2f4d6d"/>
    <p:sldId xmlns:r="http://schemas.openxmlformats.org/officeDocument/2006/relationships" id="265" r:id="Ra36b624a7f354ac5"/>
    <p:sldId xmlns:r="http://schemas.openxmlformats.org/officeDocument/2006/relationships" id="266" r:id="Rf8b714462de145bc"/>
    <p:sldId xmlns:r="http://schemas.openxmlformats.org/officeDocument/2006/relationships" id="267" r:id="Rbb7547a1a252476f"/>
    <p:sldId xmlns:r="http://schemas.openxmlformats.org/officeDocument/2006/relationships" id="268" r:id="Ra3d3334b3f054239"/>
    <p:sldId xmlns:r="http://schemas.openxmlformats.org/officeDocument/2006/relationships" id="269" r:id="Reaa45f02427542f9"/>
    <p:sldId xmlns:r="http://schemas.openxmlformats.org/officeDocument/2006/relationships" id="270" r:id="R91b521d7d3db4e73"/>
    <p:sldId xmlns:r="http://schemas.openxmlformats.org/officeDocument/2006/relationships" id="271" r:id="Rab2eb0f303f840ac"/>
    <p:sldId xmlns:r="http://schemas.openxmlformats.org/officeDocument/2006/relationships" id="272" r:id="Re0f572e357a14788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40764f56c64546" /><Relationship Type="http://schemas.openxmlformats.org/officeDocument/2006/relationships/slideMaster" Target="/ppt/slideMasters/slideMaster1.xml" Id="R38b4b1aa3d074b50" /><Relationship Type="http://schemas.openxmlformats.org/officeDocument/2006/relationships/notesMaster" Target="/ppt/notesMasters/notesMaster1.xml" Id="R2e45a7e374d1444c" /><Relationship Type="http://schemas.openxmlformats.org/officeDocument/2006/relationships/presProps" Target="/ppt/presProps.xml" Id="R2db383ac3ca74719" /><Relationship Type="http://schemas.openxmlformats.org/officeDocument/2006/relationships/viewProps" Target="/ppt/viewProps.xml" Id="R245e189319ef400e" /><Relationship Type="http://schemas.openxmlformats.org/officeDocument/2006/relationships/tableStyles" Target="/ppt/tableStyles.xml" Id="Rc2baec5cf9464086" /><Relationship Type="http://schemas.openxmlformats.org/officeDocument/2006/relationships/slide" Target="/ppt/slides/slide1.xml" Id="R0c18e7acb88d4258" /><Relationship Type="http://schemas.openxmlformats.org/officeDocument/2006/relationships/slide" Target="/ppt/slides/slide2.xml" Id="R69f9e220796b4eb1" /><Relationship Type="http://schemas.openxmlformats.org/officeDocument/2006/relationships/slide" Target="/ppt/slides/slide3.xml" Id="R457fad71b6624b25" /><Relationship Type="http://schemas.openxmlformats.org/officeDocument/2006/relationships/slide" Target="/ppt/slides/slide4.xml" Id="R98ca461c6d154a25" /><Relationship Type="http://schemas.openxmlformats.org/officeDocument/2006/relationships/slide" Target="/ppt/slides/slide5.xml" Id="R3e7443e94c6b4a98" /><Relationship Type="http://schemas.openxmlformats.org/officeDocument/2006/relationships/slide" Target="/ppt/slides/slide6.xml" Id="R6ba82fc1bb21460c" /><Relationship Type="http://schemas.openxmlformats.org/officeDocument/2006/relationships/slide" Target="/ppt/slides/slide7.xml" Id="R09a744439738494b" /><Relationship Type="http://schemas.openxmlformats.org/officeDocument/2006/relationships/slide" Target="/ppt/slides/slide8.xml" Id="Rd5ff748ac1504af3" /><Relationship Type="http://schemas.openxmlformats.org/officeDocument/2006/relationships/slide" Target="/ppt/slides/slide9.xml" Id="R4c3e580c0c2f4d6d" /><Relationship Type="http://schemas.openxmlformats.org/officeDocument/2006/relationships/slide" Target="/ppt/slides/slide10.xml" Id="Ra36b624a7f354ac5" /><Relationship Type="http://schemas.openxmlformats.org/officeDocument/2006/relationships/slide" Target="/ppt/slides/slide11.xml" Id="Rf8b714462de145bc" /><Relationship Type="http://schemas.openxmlformats.org/officeDocument/2006/relationships/slide" Target="/ppt/slides/slide12.xml" Id="Rbb7547a1a252476f" /><Relationship Type="http://schemas.openxmlformats.org/officeDocument/2006/relationships/slide" Target="/ppt/slides/slide13.xml" Id="Ra3d3334b3f054239" /><Relationship Type="http://schemas.openxmlformats.org/officeDocument/2006/relationships/slide" Target="/ppt/slides/slide14.xml" Id="Reaa45f02427542f9" /><Relationship Type="http://schemas.openxmlformats.org/officeDocument/2006/relationships/slide" Target="/ppt/slides/slide15.xml" Id="R91b521d7d3db4e73" /><Relationship Type="http://schemas.openxmlformats.org/officeDocument/2006/relationships/slide" Target="/ppt/slides/slide16.xml" Id="Rab2eb0f303f840ac" /><Relationship Type="http://schemas.openxmlformats.org/officeDocument/2006/relationships/slide" Target="/ppt/slides/slide17.xml" Id="Re0f572e357a147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f5ba0d427e46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isasterNet Pop">
  <a:themeElements>
    <a:clrScheme name="DisasterNet Pop">
      <a:dk1>
        <a:srgbClr val="26275A"/>
      </a:dk1>
      <a:lt1>
        <a:srgbClr val="FFFFFF"/>
      </a:lt1>
      <a:dk2>
        <a:srgbClr val="4A4C80"/>
      </a:dk2>
      <a:lt2>
        <a:srgbClr val="EEE9FF"/>
      </a:lt2>
      <a:accent1>
        <a:srgbClr val="FF4F81"/>
      </a:accent1>
      <a:accent2>
        <a:srgbClr val="00A39A"/>
      </a:accent2>
      <a:accent3>
        <a:srgbClr val="6C4DF6"/>
      </a:accent3>
      <a:accent4>
        <a:srgbClr val="FFB400"/>
      </a:accent4>
      <a:accent5>
        <a:srgbClr val="1E8EF0"/>
      </a:accent5>
      <a:accent6>
        <a:srgbClr val="FF8A5C"/>
      </a:accent6>
      <a:hlink>
        <a:srgbClr val="1E8EF0"/>
      </a:hlink>
      <a:folHlink>
        <a:srgbClr val="6C4DF6"/>
      </a:folHlink>
    </a:clrScheme>
    <a:fontScheme name="DisasterNet Po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sasterNet P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e5f923856420c" /><Relationship Type="http://schemas.openxmlformats.org/officeDocument/2006/relationships/notesMaster" Target="/ppt/notesMasters/notesMaster1.xml" Id="Rd9ccf5d5fbc84b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213803bae24644" /><Relationship Type="http://schemas.openxmlformats.org/officeDocument/2006/relationships/notesMaster" Target="/ppt/notesMasters/notesMaster1.xml" Id="Rdf6ebe8ec1d942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ab260c399e408e" /><Relationship Type="http://schemas.openxmlformats.org/officeDocument/2006/relationships/notesMaster" Target="/ppt/notesMasters/notesMaster1.xml" Id="R7adc315b53ca42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e069f954264135" /><Relationship Type="http://schemas.openxmlformats.org/officeDocument/2006/relationships/notesMaster" Target="/ppt/notesMasters/notesMaster1.xml" Id="R287fba49132a41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8fa0e056b54255" /><Relationship Type="http://schemas.openxmlformats.org/officeDocument/2006/relationships/notesMaster" Target="/ppt/notesMasters/notesMaster1.xml" Id="Rc6229f8e34e34e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5221caa52f4a02" /><Relationship Type="http://schemas.openxmlformats.org/officeDocument/2006/relationships/notesMaster" Target="/ppt/notesMasters/notesMaster1.xml" Id="R13eda63aea3a4f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716a65b5b04649" /><Relationship Type="http://schemas.openxmlformats.org/officeDocument/2006/relationships/notesMaster" Target="/ppt/notesMasters/notesMaster1.xml" Id="R55dc519fed1a4c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50848bbd32464e" /><Relationship Type="http://schemas.openxmlformats.org/officeDocument/2006/relationships/notesMaster" Target="/ppt/notesMasters/notesMaster1.xml" Id="R6775008659364e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6429dd983b45a5" /><Relationship Type="http://schemas.openxmlformats.org/officeDocument/2006/relationships/notesMaster" Target="/ppt/notesMasters/notesMaster1.xml" Id="R01b4a07b621e40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50b2c2b07847a6" /><Relationship Type="http://schemas.openxmlformats.org/officeDocument/2006/relationships/notesMaster" Target="/ppt/notesMasters/notesMaster1.xml" Id="Rde791a510be64a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40cd5d3c774f56" /><Relationship Type="http://schemas.openxmlformats.org/officeDocument/2006/relationships/notesMaster" Target="/ppt/notesMasters/notesMaster1.xml" Id="Rde9246777ea54b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635a14c2e94ae5" /><Relationship Type="http://schemas.openxmlformats.org/officeDocument/2006/relationships/notesMaster" Target="/ppt/notesMasters/notesMaster1.xml" Id="R22a2f001702f4c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5736c30f4749b9" /><Relationship Type="http://schemas.openxmlformats.org/officeDocument/2006/relationships/notesMaster" Target="/ppt/notesMasters/notesMaster1.xml" Id="Ra0315f3ea0e441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51ec0b0c5a4031" /><Relationship Type="http://schemas.openxmlformats.org/officeDocument/2006/relationships/notesMaster" Target="/ppt/notesMasters/notesMaster1.xml" Id="Rc35e03720ef845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fc1a94bbe74d17" /><Relationship Type="http://schemas.openxmlformats.org/officeDocument/2006/relationships/notesMaster" Target="/ppt/notesMasters/notesMaster1.xml" Id="Rc8b2d6dbc13440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eb5b3a22bc4b0c" /><Relationship Type="http://schemas.openxmlformats.org/officeDocument/2006/relationships/notesMaster" Target="/ppt/notesMasters/notesMaster1.xml" Id="Rd92a28ae955441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0147a3eb8240b0" /><Relationship Type="http://schemas.openxmlformats.org/officeDocument/2006/relationships/notesMaster" Target="/ppt/notesMasters/notesMaster1.xml" Id="R6c1e8122a6b34c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DisasterNet. Team: K. Prasanthi Lakshmi, Ch. Poojitha and K. Bharathi Sree.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six operator needs (a)-(f) from the README.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src/DisasterNetflow/m1..m6, Main, UI, Data, Benchmark; test/AllTests.java with 48 tests.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algorithm solves a different search shape: one pattern, many patterns, prefixes. Naive search is kept as a baseline/oracle.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 doubling is kept as an oracle to check SA-IS. Benchmark: n = 400,000 doubling 2175 ms vs SA-IS 347 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DELYAED -&gt; DELAYED is 1 Damerau edit but 2 Levenshtein edits. Smith-Waterman floors scores at 0 and starts the traceback at the maximum cell.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Max flow 270 = 140 + 130, the two bottleneck edges into Aircraft. Ford-Fulkerson, Edmonds-Karp and Dinic all agree.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Satisfiable &lt;=&gt; clique of size k = number of clauses. Independent set is a clique in the complement graph; vertex cover is V minus an independent set.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Sorted input n=4000: deterministic 7,998,000 comparisons vs randomized 51,876. Reservoir sampling tested for uniformity (each element about k/N = 0.3).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 docs/test_results.txt. Random testing compares each fast algorithm against a naive or brute-force version.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rubric-2 algorithm selection argument from REVIEW1.md, plus the max-flow benchmark.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UML-style overview based on the Java source: Main launches MainMenu; DataStore maintains shared in-memory lists of domain model objects. The class cards show representative fields, not every field or method.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six algorithm modules and seven managed data areas. Sample data remains in memory for the current run.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06c7e709544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e2115218340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b59a7226b4f0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85B8FE-84D5-4F2B-9AA9-57FA954E3596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3000" b="1">
                <a:solidFill>
                  <a:srgbClr val="26275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30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OPEN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f5c27fefe94183" /><Relationship Type="http://schemas.openxmlformats.org/officeDocument/2006/relationships/slideLayout" Target="/ppt/slideLayouts/slideLayout1.xml" Id="Rd4ec0b200eb24b87" /><Relationship Type="http://schemas.openxmlformats.org/officeDocument/2006/relationships/slideLayout" Target="/ppt/slideLayouts/slideLayout2.xml" Id="Rbe259f72402f429b" /><Relationship Type="http://schemas.openxmlformats.org/officeDocument/2006/relationships/slideLayout" Target="/ppt/slideLayouts/slideLayout3.xml" Id="Ra1b40bb4338941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ec0b200eb24b87"/>
    <p:sldLayoutId xmlns:r="http://schemas.openxmlformats.org/officeDocument/2006/relationships" id="2147483650" r:id="Rbe259f72402f429b"/>
    <p:sldLayoutId xmlns:r="http://schemas.openxmlformats.org/officeDocument/2006/relationships" id="2147483651" r:id="Ra1b40bb43389418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isasterNet Pop">
  <a:themeElements>
    <a:clrScheme name="DisasterNet Pop">
      <a:dk1>
        <a:srgbClr val="26275A"/>
      </a:dk1>
      <a:lt1>
        <a:srgbClr val="FFFFFF"/>
      </a:lt1>
      <a:dk2>
        <a:srgbClr val="4A4C80"/>
      </a:dk2>
      <a:lt2>
        <a:srgbClr val="EEE9FF"/>
      </a:lt2>
      <a:accent1>
        <a:srgbClr val="FF4F81"/>
      </a:accent1>
      <a:accent2>
        <a:srgbClr val="00A39A"/>
      </a:accent2>
      <a:accent3>
        <a:srgbClr val="6C4DF6"/>
      </a:accent3>
      <a:accent4>
        <a:srgbClr val="FFB400"/>
      </a:accent4>
      <a:accent5>
        <a:srgbClr val="1E8EF0"/>
      </a:accent5>
      <a:accent6>
        <a:srgbClr val="FF8A5C"/>
      </a:accent6>
      <a:hlink>
        <a:srgbClr val="1E8EF0"/>
      </a:hlink>
      <a:folHlink>
        <a:srgbClr val="6C4DF6"/>
      </a:folHlink>
    </a:clrScheme>
    <a:fontScheme name="DisasterNet Po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sasterNet P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e5be6ab25c44c5" /><Relationship Type="http://schemas.openxmlformats.org/officeDocument/2006/relationships/image" Target="/ppt/media/image.png" Id="R8a5dd7535c334453" /><Relationship Type="http://schemas.openxmlformats.org/officeDocument/2006/relationships/image" Target="/ppt/media/image2.png" Id="Re752b5266d8a4c21" /><Relationship Type="http://schemas.openxmlformats.org/officeDocument/2006/relationships/image" Target="/ppt/media/image3.png" Id="R0ad6ab13ffd84acb" /><Relationship Type="http://schemas.openxmlformats.org/officeDocument/2006/relationships/image" Target="/ppt/media/image4.png" Id="Rf0b79db0debd48cb" /><Relationship Type="http://schemas.openxmlformats.org/officeDocument/2006/relationships/image" Target="/ppt/media/image5.png" Id="Rc6434a7cfa574f39" /><Relationship Type="http://schemas.openxmlformats.org/officeDocument/2006/relationships/image" Target="/ppt/media/image6.png" Id="R4c7f5ec473634266" /><Relationship Type="http://schemas.openxmlformats.org/officeDocument/2006/relationships/image" Target="/ppt/media/image7.png" Id="Re793a7c558a1482d" /><Relationship Type="http://schemas.openxmlformats.org/officeDocument/2006/relationships/image" Target="/ppt/media/image8.png" Id="R8fe0e0414ba44648" /><Relationship Type="http://schemas.openxmlformats.org/officeDocument/2006/relationships/notesSlide" Target="/ppt/notesSlides/notesSlide1.xml" Id="Rc18dea7257f447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980a1b5d194c96" /><Relationship Type="http://schemas.openxmlformats.org/officeDocument/2006/relationships/image" Target="/ppt/media/image9.png" Id="R411bad647bdb48f7" /><Relationship Type="http://schemas.openxmlformats.org/officeDocument/2006/relationships/image" Target="/ppt/media/image10.png" Id="R9f03cd8e4b7747e4" /><Relationship Type="http://schemas.openxmlformats.org/officeDocument/2006/relationships/image" Target="/ppt/media/image11.png" Id="Rdeb8784b741f47ee" /><Relationship Type="http://schemas.openxmlformats.org/officeDocument/2006/relationships/image" Target="/ppt/media/image12.png" Id="R5fe59e78195c4fe4" /><Relationship Type="http://schemas.openxmlformats.org/officeDocument/2006/relationships/notesSlide" Target="/ppt/notesSlides/notesSlide2.xml" Id="Rfe3afe6aa97d4e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4fe0bbdc8c45ef" /><Relationship Type="http://schemas.openxmlformats.org/officeDocument/2006/relationships/image" Target="/ppt/media/image13.png" Id="Rc222510a00894e9e" /><Relationship Type="http://schemas.openxmlformats.org/officeDocument/2006/relationships/notesSlide" Target="/ppt/notesSlides/notesSlide3.xml" Id="R93ce091c12b542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310d2ce93b4bab" /><Relationship Type="http://schemas.openxmlformats.org/officeDocument/2006/relationships/image" Target="/ppt/media/image14.png" Id="R57381ecd2e7e40bd" /><Relationship Type="http://schemas.openxmlformats.org/officeDocument/2006/relationships/image" Target="/ppt/media/image15.png" Id="R6d6e5e015ff8460a" /><Relationship Type="http://schemas.openxmlformats.org/officeDocument/2006/relationships/notesSlide" Target="/ppt/notesSlides/notesSlide4.xml" Id="R5325ac2c2f024e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4a247225b94dc1" /><Relationship Type="http://schemas.openxmlformats.org/officeDocument/2006/relationships/image" Target="/ppt/media/image16.png" Id="R9953d18c79264c03" /><Relationship Type="http://schemas.openxmlformats.org/officeDocument/2006/relationships/chart" Target="/ppt/slides/charts/chart1.xml" Id="R3d1e1d110deb4369" /><Relationship Type="http://schemas.openxmlformats.org/officeDocument/2006/relationships/notesSlide" Target="/ppt/notesSlides/notesSlide5.xml" Id="Rdba221d3729d41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c628037f104eb8" /><Relationship Type="http://schemas.openxmlformats.org/officeDocument/2006/relationships/image" Target="/ppt/media/image.png" Id="R5d34efc922a1434a" /><Relationship Type="http://schemas.openxmlformats.org/officeDocument/2006/relationships/image" Target="/ppt/media/image17.png" Id="Re60a0638ceff4d57" /><Relationship Type="http://schemas.openxmlformats.org/officeDocument/2006/relationships/image" Target="/ppt/media/image18.png" Id="R25b66265a2d042dd" /><Relationship Type="http://schemas.openxmlformats.org/officeDocument/2006/relationships/notesSlide" Target="/ppt/notesSlides/notesSlide6.xml" Id="R4f3779cd43d34d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f91dd622e94bab" /><Relationship Type="http://schemas.openxmlformats.org/officeDocument/2006/relationships/image" Target="/ppt/media/image9.png" Id="Rc070208458e44abd" /><Relationship Type="http://schemas.openxmlformats.org/officeDocument/2006/relationships/image" Target="/ppt/media/image19.png" Id="R22e0e4c6fbe74b69" /><Relationship Type="http://schemas.openxmlformats.org/officeDocument/2006/relationships/notesSlide" Target="/ppt/notesSlides/notesSlide7.xml" Id="R6eb3aeecac204d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ed120992704cc5" /><Relationship Type="http://schemas.openxmlformats.org/officeDocument/2006/relationships/image" Target="/ppt/media/image9.png" Id="Rc3b7a82d8d214c2a" /><Relationship Type="http://schemas.openxmlformats.org/officeDocument/2006/relationships/image" Target="/ppt/media/image20.png" Id="R651ceda435ae41cf" /><Relationship Type="http://schemas.openxmlformats.org/officeDocument/2006/relationships/image" Target="/ppt/media/image18.png" Id="R723565651ef944e3" /><Relationship Type="http://schemas.openxmlformats.org/officeDocument/2006/relationships/image" Target="/ppt/media/image17.png" Id="Rebac0c817867495a" /><Relationship Type="http://schemas.openxmlformats.org/officeDocument/2006/relationships/notesSlide" Target="/ppt/notesSlides/notesSlide8.xml" Id="R51a4cbff952542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c917e6bcb24d6b" /><Relationship Type="http://schemas.openxmlformats.org/officeDocument/2006/relationships/image" Target="/ppt/media/image.png" Id="R98712d7f08754552" /><Relationship Type="http://schemas.openxmlformats.org/officeDocument/2006/relationships/image" Target="/ppt/media/image21.png" Id="R1ba9da42c8df416a" /><Relationship Type="http://schemas.openxmlformats.org/officeDocument/2006/relationships/notesSlide" Target="/ppt/notesSlides/notesSlide9.xml" Id="Rc6248e90e8df43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11132559124924" /><Relationship Type="http://schemas.openxmlformats.org/officeDocument/2006/relationships/image" Target="/ppt/media/image.png" Id="Rdfa6028ee1294c4a" /><Relationship Type="http://schemas.openxmlformats.org/officeDocument/2006/relationships/image" Target="/ppt/media/image22.png" Id="R85158678e0004cb8" /><Relationship Type="http://schemas.openxmlformats.org/officeDocument/2006/relationships/image" Target="/ppt/media/image23.png" Id="R3784fd9171634d16" /><Relationship Type="http://schemas.openxmlformats.org/officeDocument/2006/relationships/image" Target="/ppt/media/image24.png" Id="Rc9b08eca00c246ce" /><Relationship Type="http://schemas.openxmlformats.org/officeDocument/2006/relationships/notesSlide" Target="/ppt/notesSlides/notesSlide10.xml" Id="R1545649be33847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4b9031cce1415f" /><Relationship Type="http://schemas.openxmlformats.org/officeDocument/2006/relationships/image" Target="/ppt/media/image14.png" Id="Rcea1e4bc46df4679" /><Relationship Type="http://schemas.openxmlformats.org/officeDocument/2006/relationships/image" Target="/ppt/media/image25.png" Id="R389a792c43304541" /><Relationship Type="http://schemas.openxmlformats.org/officeDocument/2006/relationships/image" Target="/ppt/media/image26.png" Id="Rad0dcc74e26d4e2c" /><Relationship Type="http://schemas.openxmlformats.org/officeDocument/2006/relationships/image" Target="/ppt/media/image22.png" Id="Rd6272d71a5f54f9a" /><Relationship Type="http://schemas.openxmlformats.org/officeDocument/2006/relationships/notesSlide" Target="/ppt/notesSlides/notesSlide11.xml" Id="Re87c8f80191941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6468df66a4a3d" /><Relationship Type="http://schemas.openxmlformats.org/officeDocument/2006/relationships/image" Target="/ppt/media/image14.png" Id="R7c88b8ab39094cc3" /><Relationship Type="http://schemas.openxmlformats.org/officeDocument/2006/relationships/image" Target="/ppt/media/image27.png" Id="R698c013e11c445bc" /><Relationship Type="http://schemas.openxmlformats.org/officeDocument/2006/relationships/image" Target="/ppt/media/image28.png" Id="R32d84de112ba46e8" /><Relationship Type="http://schemas.openxmlformats.org/officeDocument/2006/relationships/image" Target="/ppt/media/image29.png" Id="R9a62554993854b95" /><Relationship Type="http://schemas.openxmlformats.org/officeDocument/2006/relationships/notesSlide" Target="/ppt/notesSlides/notesSlide12.xml" Id="R191e0211d2de4f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18ae828e9b4207" /><Relationship Type="http://schemas.openxmlformats.org/officeDocument/2006/relationships/image" Target="/ppt/media/image14.png" Id="Rb7fb5819ba2240f4" /><Relationship Type="http://schemas.openxmlformats.org/officeDocument/2006/relationships/image" Target="/ppt/media/image25.png" Id="Rff6701828561455e" /><Relationship Type="http://schemas.openxmlformats.org/officeDocument/2006/relationships/image" Target="/ppt/media/image26.png" Id="Rcb32cc8412fd44b7" /><Relationship Type="http://schemas.openxmlformats.org/officeDocument/2006/relationships/image" Target="/ppt/media/image22.png" Id="R457e390024fe4e3a" /><Relationship Type="http://schemas.openxmlformats.org/officeDocument/2006/relationships/notesSlide" Target="/ppt/notesSlides/notesSlide13.xml" Id="R6ae3f85316e447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09f737be9f4426" /><Relationship Type="http://schemas.openxmlformats.org/officeDocument/2006/relationships/image" Target="/ppt/media/image16.png" Id="R6688a7d51b504100" /><Relationship Type="http://schemas.openxmlformats.org/officeDocument/2006/relationships/chart" Target="/ppt/slides/charts/chart2.xml" Id="R8d6feb76fc27495a" /><Relationship Type="http://schemas.openxmlformats.org/officeDocument/2006/relationships/image" Target="/ppt/media/image30.png" Id="R7927c66eafb14c2d" /><Relationship Type="http://schemas.openxmlformats.org/officeDocument/2006/relationships/image" Target="/ppt/media/image31.png" Id="R5f5fe3bc28d24a20" /><Relationship Type="http://schemas.openxmlformats.org/officeDocument/2006/relationships/image" Target="/ppt/media/image32.png" Id="Rfa795b4b979c4349" /><Relationship Type="http://schemas.openxmlformats.org/officeDocument/2006/relationships/notesSlide" Target="/ppt/notesSlides/notesSlide14.xml" Id="R80da9a5e8ee845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96fa6480af4978" /><Relationship Type="http://schemas.openxmlformats.org/officeDocument/2006/relationships/image" Target="/ppt/media/image13.png" Id="Rd6bf7d43d5ef4616" /><Relationship Type="http://schemas.openxmlformats.org/officeDocument/2006/relationships/notesSlide" Target="/ppt/notesSlides/notesSlide15.xml" Id="R81819ca3ea7744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cf08aa224c4603" /><Relationship Type="http://schemas.openxmlformats.org/officeDocument/2006/relationships/image" Target="/ppt/media/image.png" Id="R506b94ed8bd44264" /><Relationship Type="http://schemas.openxmlformats.org/officeDocument/2006/relationships/notesSlide" Target="/ppt/notesSlides/notesSlide16.xml" Id="R13ae3b0f62b440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f7a33ac67b4584" /><Relationship Type="http://schemas.openxmlformats.org/officeDocument/2006/relationships/image" Target="/ppt/media/image9.png" Id="R7c6576150d7e47ef" /><Relationship Type="http://schemas.openxmlformats.org/officeDocument/2006/relationships/notesSlide" Target="/ppt/notesSlides/notesSlide17.xml" Id="Rb103fd4fb5b24927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 u="none" strike="noStrike" baseline="0">
                <a:solidFill>
                  <a:srgbClr val="26275A"/>
                </a:solidFill>
                <a:latin typeface="+mn-lt"/>
                <a:ea typeface="+mn-lt"/>
                <a:cs typeface="+mn-lt"/>
              </a:rPr>
              <a:t>Suffix array build (ms)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0" i="0" u="none" strike="noStrike" baseline="0">
              <a:solidFill>
                <a:srgbClr val="26275A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Doubling</c:v>
                </c:pt>
              </c:strCache>
            </c:strRef>
          </c:tx>
          <c:spPr>
            <a:solidFill xmlns:a="http://schemas.openxmlformats.org/drawingml/2006/main">
              <a:srgbClr val="FF4F81"/>
            </a:solidFill>
          </c:spPr>
          <c:invertIfNegative val="0"/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0" i="0" u="none" strike="noStrike" kern="1200" baseline="0">
                    <a:solidFill>
                      <a:srgbClr val="26275A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10k</c:v>
                </c:pt>
                <c:pt idx="1">
                  <c:v>100k</c:v>
                </c:pt>
                <c:pt idx="2">
                  <c:v>400k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91.18</c:v>
                </c:pt>
                <c:pt idx="1">
                  <c:v>500.42</c:v>
                </c:pt>
                <c:pt idx="2">
                  <c:v>2175.47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SA-IS</c:v>
                </c:pt>
              </c:strCache>
            </c:strRef>
          </c:tx>
          <c:spPr>
            <a:solidFill xmlns:a="http://schemas.openxmlformats.org/drawingml/2006/main">
              <a:srgbClr val="00A39A"/>
            </a:solidFill>
          </c:spPr>
          <c:invertIfNegative val="0"/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0" i="0" u="none" strike="noStrike" kern="1200" baseline="0">
                    <a:solidFill>
                      <a:srgbClr val="26275A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10k</c:v>
                </c:pt>
                <c:pt idx="1">
                  <c:v>100k</c:v>
                </c:pt>
                <c:pt idx="2">
                  <c:v>400k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31.35</c:v>
                </c:pt>
                <c:pt idx="1">
                  <c:v>78</c:v>
                </c:pt>
                <c:pt idx="2">
                  <c:v>346.96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 cmpd="sng">
            <a:solidFill>
              <a:srgbClr val="888888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 strike="noStrike" baseline="0">
                <a:solidFill>
                  <a:srgbClr val="26275A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  <c:lblOffset val="100"/>
      </c:catAx>
      <c:valAx>
        <c:axId val="2094734552"/>
        <c:scaling>
          <c:orientation val="minMax"/>
        </c:scaling>
        <c:delete val="0"/>
        <c:axPos val="l"/>
        <c:majorGridlines>
          <c:spPr>
            <a:ln xmlns:a="http://schemas.openxmlformats.org/drawingml/2006/main" w="6350" cmpd="sng">
              <a:solidFill>
                <a:srgbClr val="E6E0F5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 cmpd="sng">
            <a:solidFill>
              <a:srgbClr val="888888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00" b="0" i="0" u="none" strike="noStrike" baseline="0">
                <a:solidFill>
                  <a:srgbClr val="4A4C8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000" b="0" i="0" u="none" strike="noStrike" baseline="0">
              <a:solidFill>
                <a:srgbClr val="26275A"/>
              </a:solidFill>
              <a:latin typeface="+mn-lt"/>
              <a:ea typeface="+mn-lt"/>
              <a:cs typeface="+mn-lt"/>
            </a:defRPr>
          </a:pPr>
        </a:p>
      </c:txPr>
    </c:legend>
    <c:plotVisOnly val="1"/>
    <c:dispBlanksAs val="span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00" b="0" i="0" u="none" strike="noStrike" baseline="0">
                <a:solidFill>
                  <a:srgbClr val="26275A"/>
                </a:solidFill>
                <a:latin typeface="+mn-lt"/>
                <a:ea typeface="+mn-lt"/>
                <a:cs typeface="+mn-lt"/>
              </a:rPr>
              <a:t>Unit tests per module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00" b="0" i="0" u="none" strike="noStrike" baseline="0">
              <a:solidFill>
                <a:srgbClr val="26275A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 xmlns:a="http://schemas.openxmlformats.org/drawingml/2006/main">
              <a:srgbClr val="FF4F81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F4F8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A39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C4DF6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FB40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E8EF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FF4F81"/>
              </a:solidFill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 b="0" i="0" u="none" strike="noStrike" kern="1200" baseline="0">
                    <a:solidFill>
                      <a:srgbClr val="26275A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8</c:v>
                </c:pt>
                <c:pt idx="2">
                  <c:v>12</c:v>
                </c:pt>
                <c:pt idx="3">
                  <c:v>4</c:v>
                </c:pt>
                <c:pt idx="4">
                  <c:v>4</c:v>
                </c:pt>
                <c:pt idx="5">
                  <c:v>12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 cmpd="sng">
            <a:solidFill>
              <a:srgbClr val="888888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strike="noStrike" baseline="0">
                <a:solidFill>
                  <a:srgbClr val="26275A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  <c:lblOffset val="100"/>
      </c:catAx>
      <c:valAx>
        <c:axId val="2094734552"/>
        <c:scaling>
          <c:orientation val="minMax"/>
        </c:scaling>
        <c:delete val="0"/>
        <c:axPos val="l"/>
        <c:majorGridlines>
          <c:spPr>
            <a:ln xmlns:a="http://schemas.openxmlformats.org/drawingml/2006/main" w="6350" cmpd="sng">
              <a:solidFill>
                <a:srgbClr val="E6E0F5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 cmpd="sng">
            <a:solidFill>
              <a:srgbClr val="888888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000" b="0" i="0" u="none" strike="noStrike" baseline="0">
                <a:solidFill>
                  <a:srgbClr val="4A4C8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  <c:dispBlanksAs val="span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a5dd7535c33445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ill">
            <a:extLst xmlns:a="http://schemas.openxmlformats.org/drawingml/2006/main">
              <a:ext uri="{FF2B5EF4-FFF2-40B4-BE49-F238E27FC236}">
                <a16:creationId xmlns:a16="http://schemas.microsoft.com/office/drawing/2014/main" id="{CD89582C-5688-4EDD-9979-877F1868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338328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00"/>
          </a:solidFill>
          <a:ln xmlns:a="http://schemas.openxmlformats.org/drawingml/2006/main" w="12700">
            <a:solidFill>
              <a:srgbClr val="FFB40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7B0BC8E-25A0-49FE-8D33-08BEEECD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DSA-3 PROJECT · DISASTERNET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8728354-8A2A-414A-AC62-1B161EE7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51206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DisasterNet</a:t>
            </a:r>
            <a:endParaRPr sz="5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3CF8860-784A-4968-9902-926375C3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4572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Emergency Response &amp; Resource Coordination System</a:t>
            </a:r>
            <a:endParaRPr sz="1800"/>
          </a:p>
        </p:txBody>
      </p:sp>
      <p:sp>
        <p:nvSpPr>
          <p:cNvPr id="6" name="card">
            <a:extLst xmlns:a="http://schemas.openxmlformats.org/drawingml/2006/main">
              <a:ext uri="{FF2B5EF4-FFF2-40B4-BE49-F238E27FC236}">
                <a16:creationId xmlns:a16="http://schemas.microsoft.com/office/drawing/2014/main" id="{E36429C5-8D15-4AAF-895C-F4A41E93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4206240" cy="15544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7" name="icon-circle">
            <a:extLst xmlns:a="http://schemas.openxmlformats.org/drawingml/2006/main">
              <a:ext uri="{FF2B5EF4-FFF2-40B4-BE49-F238E27FC236}">
                <a16:creationId xmlns:a16="http://schemas.microsoft.com/office/drawing/2014/main" id="{51D5C314-1F71-4588-A0C1-2DEAAF99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101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12700">
            <a:solidFill>
              <a:srgbClr val="FF4F81"/>
            </a:solidFill>
            <a:prstDash val="solid"/>
          </a:ln>
        </p:spPr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8288D6D1-6E21-4A88-BA97-3FF670FD7A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2b5266d8a4c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" y="342442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10C83ED-94B5-4F85-A137-B65C1C27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310128"/>
            <a:ext cx="3108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Team Members:</a:t>
            </a:r>
            <a:endParaRPr sz="15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4C329AA-8A09-4FFA-A6DB-983DAC0A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3749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26275A"/>
                </a:solidFill>
                <a:latin typeface="Arial"/>
                <a:ea typeface="Arial"/>
                <a:cs typeface="Arial"/>
              </a:rPr>
              <a:t>K. Prasanthi Lakshmi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26275A"/>
                </a:solidFill>
                <a:latin typeface="Arial"/>
                <a:ea typeface="Arial"/>
                <a:cs typeface="Arial"/>
              </a:rPr>
              <a:t>Ch. Poojitha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26275A"/>
                </a:solidFill>
                <a:latin typeface="Arial"/>
                <a:ea typeface="Arial"/>
                <a:cs typeface="Arial"/>
              </a:rPr>
              <a:t>K. Bharathi Sree</a:t>
            </a:r>
            <a:endParaRPr sz="1400"/>
          </a:p>
        </p:txBody>
      </p:sp>
      <p:sp>
        <p:nvSpPr>
          <p:cNvPr id="11" name="ring">
            <a:extLst xmlns:a="http://schemas.openxmlformats.org/drawingml/2006/main">
              <a:ext uri="{FF2B5EF4-FFF2-40B4-BE49-F238E27FC236}">
                <a16:creationId xmlns:a16="http://schemas.microsoft.com/office/drawing/2014/main" id="{DAB37ACC-4697-4370-912C-AA6D0903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05156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12" name="ring">
            <a:extLst xmlns:a="http://schemas.openxmlformats.org/drawingml/2006/main">
              <a:ext uri="{FF2B5EF4-FFF2-40B4-BE49-F238E27FC236}">
                <a16:creationId xmlns:a16="http://schemas.microsoft.com/office/drawing/2014/main" id="{E415DF50-C050-4145-9012-E3523302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417320"/>
            <a:ext cx="2560320" cy="2560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E8">
              <a:alpha val="75000"/>
            </a:srgbClr>
          </a:solidFill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13" name="ring">
            <a:extLst xmlns:a="http://schemas.openxmlformats.org/drawingml/2006/main">
              <a:ext uri="{FF2B5EF4-FFF2-40B4-BE49-F238E27FC236}">
                <a16:creationId xmlns:a16="http://schemas.microsoft.com/office/drawing/2014/main" id="{70218EEA-6404-4458-9EE8-A91F4734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8308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BFF">
              <a:alpha val="90000"/>
            </a:srgbClr>
          </a:solidFill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14" name="core">
            <a:extLst xmlns:a="http://schemas.openxmlformats.org/drawingml/2006/main">
              <a:ext uri="{FF2B5EF4-FFF2-40B4-BE49-F238E27FC236}">
                <a16:creationId xmlns:a16="http://schemas.microsoft.com/office/drawing/2014/main" id="{3E13E5D2-BF64-477F-80DE-C14BF7AC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148840"/>
            <a:ext cx="109728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508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pic>
        <p:nvPicPr>
          <p:cNvPr id="15" name="Image 1">
            <a:extLst xmlns:a="http://schemas.openxmlformats.org/drawingml/2006/main">
              <a:ext uri="{FF2B5EF4-FFF2-40B4-BE49-F238E27FC236}">
                <a16:creationId xmlns:a16="http://schemas.microsoft.com/office/drawing/2014/main" id="{131B43F7-B2E3-47C7-A9DA-2CD056BC0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6ab13ffd84a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242316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6" name="icon-circle">
            <a:extLst xmlns:a="http://schemas.openxmlformats.org/drawingml/2006/main">
              <a:ext uri="{FF2B5EF4-FFF2-40B4-BE49-F238E27FC236}">
                <a16:creationId xmlns:a16="http://schemas.microsoft.com/office/drawing/2014/main" id="{D5E1C065-F01F-497E-874A-D63B51A7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820" y="93726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9A"/>
          </a:solidFill>
          <a:ln xmlns:a="http://schemas.openxmlformats.org/drawingml/2006/main" w="12700">
            <a:solidFill>
              <a:srgbClr val="00A39A"/>
            </a:solidFill>
            <a:prstDash val="solid"/>
          </a:ln>
        </p:spPr>
      </p:sp>
      <p:pic>
        <p:nvPicPr>
          <p:cNvPr id="17" name="Image 2">
            <a:extLst xmlns:a="http://schemas.openxmlformats.org/drawingml/2006/main">
              <a:ext uri="{FF2B5EF4-FFF2-40B4-BE49-F238E27FC236}">
                <a16:creationId xmlns:a16="http://schemas.microsoft.com/office/drawing/2014/main" id="{9DCD9103-A01B-4D47-816F-92284AEB2F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79db0debd48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9410" y="108585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18" name="icon-circle">
            <a:extLst xmlns:a="http://schemas.openxmlformats.org/drawingml/2006/main">
              <a:ext uri="{FF2B5EF4-FFF2-40B4-BE49-F238E27FC236}">
                <a16:creationId xmlns:a16="http://schemas.microsoft.com/office/drawing/2014/main" id="{3FDC9E27-BC51-47F5-ABD4-E7817936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628" y="1899911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00"/>
          </a:solidFill>
          <a:ln xmlns:a="http://schemas.openxmlformats.org/drawingml/2006/main" w="12700">
            <a:solidFill>
              <a:srgbClr val="FFB400"/>
            </a:solidFill>
            <a:prstDash val="solid"/>
          </a:ln>
        </p:spPr>
      </p:sp>
      <p:pic>
        <p:nvPicPr>
          <p:cNvPr id="19" name="Image 3">
            <a:extLst xmlns:a="http://schemas.openxmlformats.org/drawingml/2006/main">
              <a:ext uri="{FF2B5EF4-FFF2-40B4-BE49-F238E27FC236}">
                <a16:creationId xmlns:a16="http://schemas.microsoft.com/office/drawing/2014/main" id="{280721AD-6C49-4E18-AD5C-6C0A0A4DED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34a7cfa574f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84218" y="2048501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20" name="icon-circle">
            <a:extLst xmlns:a="http://schemas.openxmlformats.org/drawingml/2006/main">
              <a:ext uri="{FF2B5EF4-FFF2-40B4-BE49-F238E27FC236}">
                <a16:creationId xmlns:a16="http://schemas.microsoft.com/office/drawing/2014/main" id="{7713E470-6A94-4092-93AA-C9949766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244" y="3521054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F0"/>
          </a:solidFill>
          <a:ln xmlns:a="http://schemas.openxmlformats.org/drawingml/2006/main" w="12700">
            <a:solidFill>
              <a:srgbClr val="1E8EF0"/>
            </a:solidFill>
            <a:prstDash val="solid"/>
          </a:ln>
        </p:spPr>
      </p:sp>
      <p:pic>
        <p:nvPicPr>
          <p:cNvPr id="21" name="Image 4">
            <a:extLst xmlns:a="http://schemas.openxmlformats.org/drawingml/2006/main">
              <a:ext uri="{FF2B5EF4-FFF2-40B4-BE49-F238E27FC236}">
                <a16:creationId xmlns:a16="http://schemas.microsoft.com/office/drawing/2014/main" id="{38E69273-2EB8-46A8-BE75-1729F53045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f5ec473634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49834" y="3669644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22" name="icon-circle">
            <a:extLst xmlns:a="http://schemas.openxmlformats.org/drawingml/2006/main">
              <a:ext uri="{FF2B5EF4-FFF2-40B4-BE49-F238E27FC236}">
                <a16:creationId xmlns:a16="http://schemas.microsoft.com/office/drawing/2014/main" id="{BC5CE3E6-EDB1-415E-8825-DF7734EC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96" y="3521054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DF6"/>
          </a:solidFill>
          <a:ln xmlns:a="http://schemas.openxmlformats.org/drawingml/2006/main" w="12700">
            <a:solidFill>
              <a:srgbClr val="6C4DF6"/>
            </a:solidFill>
            <a:prstDash val="solid"/>
          </a:ln>
        </p:spPr>
      </p:sp>
      <p:pic>
        <p:nvPicPr>
          <p:cNvPr id="23" name="Image 5">
            <a:extLst xmlns:a="http://schemas.openxmlformats.org/drawingml/2006/main">
              <a:ext uri="{FF2B5EF4-FFF2-40B4-BE49-F238E27FC236}">
                <a16:creationId xmlns:a16="http://schemas.microsoft.com/office/drawing/2014/main" id="{01A2F30C-D322-4681-8571-9EB5376B39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3a7c558a148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8986" y="3669644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24" name="icon-circle">
            <a:extLst xmlns:a="http://schemas.openxmlformats.org/drawingml/2006/main">
              <a:ext uri="{FF2B5EF4-FFF2-40B4-BE49-F238E27FC236}">
                <a16:creationId xmlns:a16="http://schemas.microsoft.com/office/drawing/2014/main" id="{1052E3F4-335B-43EC-98C2-C400A52E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012" y="1899911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12700">
            <a:solidFill>
              <a:srgbClr val="FF4F81"/>
            </a:solidFill>
            <a:prstDash val="solid"/>
          </a:ln>
        </p:spPr>
      </p:sp>
      <p:pic>
        <p:nvPicPr>
          <p:cNvPr id="25" name="Image 6">
            <a:extLst xmlns:a="http://schemas.openxmlformats.org/drawingml/2006/main">
              <a:ext uri="{FF2B5EF4-FFF2-40B4-BE49-F238E27FC236}">
                <a16:creationId xmlns:a16="http://schemas.microsoft.com/office/drawing/2014/main" id="{C7D488FE-DE53-426B-9D38-1B345D0F9F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0e0414ba446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602" y="2048501"/>
            <a:ext cx="297180" cy="297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11530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11bad647bdb48f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A21D514-3730-4736-8D40-30CC923C0F31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DisasterNet Problem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AEFC5C-4D5A-4337-9166-8067D9BF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2</a:t>
            </a:r>
            <a:endParaRPr sz="1000"/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0FE27ED9-2C59-4CB9-A5A0-B8AA02BF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8046720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6" name="icon-circle">
            <a:extLst xmlns:a="http://schemas.openxmlformats.org/drawingml/2006/main">
              <a:ext uri="{FF2B5EF4-FFF2-40B4-BE49-F238E27FC236}">
                <a16:creationId xmlns:a16="http://schemas.microsoft.com/office/drawing/2014/main" id="{A36D211A-7BB0-41D4-948B-8ADC7943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12700">
            <a:solidFill>
              <a:srgbClr val="FF4F81"/>
            </a:solidFill>
            <a:prstDash val="solid"/>
          </a:ln>
        </p:spPr>
      </p:sp>
      <p:pic>
        <p:nvPicPr>
          <p:cNvPr id="7" name="Image 0">
            <a:extLst xmlns:a="http://schemas.openxmlformats.org/drawingml/2006/main">
              <a:ext uri="{FF2B5EF4-FFF2-40B4-BE49-F238E27FC236}">
                <a16:creationId xmlns:a16="http://schemas.microsoft.com/office/drawing/2014/main" id="{4E12A84F-8970-4CAC-9D97-A652B74D6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3cd8e4b7747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15773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CC406D6-D3E3-4FEB-A2AD-06222083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456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Real-World Complexity</a:t>
            </a:r>
            <a:endParaRPr sz="16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5DC66DA-73CC-44FA-864D-78D2A831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64208"/>
            <a:ext cx="6766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275A"/>
                </a:solidFill>
                <a:latin typeface="Arial"/>
                <a:ea typeface="Arial"/>
                <a:cs typeface="Arial"/>
              </a:rPr>
              <a:t>Teams must find urgent alerts, locate supplies, coordinate shelters and assign responders while information changes.</a:t>
            </a:r>
            <a:endParaRPr sz="1300"/>
          </a:p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6AE96E7F-2C78-4E1E-9B60-BBCFA26D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04872"/>
            <a:ext cx="8046720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1" name="icon-circle">
            <a:extLst xmlns:a="http://schemas.openxmlformats.org/drawingml/2006/main">
              <a:ext uri="{FF2B5EF4-FFF2-40B4-BE49-F238E27FC236}">
                <a16:creationId xmlns:a16="http://schemas.microsoft.com/office/drawing/2014/main" id="{6BB13DC4-0796-4E66-B080-4A4A92FC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87752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DF6"/>
          </a:solidFill>
          <a:ln xmlns:a="http://schemas.openxmlformats.org/drawingml/2006/main" w="12700">
            <a:solidFill>
              <a:srgbClr val="6C4DF6"/>
            </a:solidFill>
            <a:prstDash val="solid"/>
          </a:ln>
        </p:spPr>
      </p:sp>
      <p:pic>
        <p:nvPicPr>
          <p:cNvPr id="12" name="Image 1">
            <a:extLst xmlns:a="http://schemas.openxmlformats.org/drawingml/2006/main">
              <a:ext uri="{FF2B5EF4-FFF2-40B4-BE49-F238E27FC236}">
                <a16:creationId xmlns:a16="http://schemas.microsoft.com/office/drawing/2014/main" id="{D8A7D9C0-4274-4F93-A9F1-92EA806CD4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8784b741f47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274777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1F0C0BB7-04AC-4BB1-896C-6C5DA82E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32888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Beyond Isolated Theory</a:t>
            </a:r>
            <a:endParaRPr sz="16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DD508E7-5D5E-48C6-B082-4762E232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34640"/>
            <a:ext cx="6766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275A"/>
                </a:solidFill>
                <a:latin typeface="Arial"/>
                <a:ea typeface="Arial"/>
                <a:cs typeface="Arial"/>
              </a:rPr>
              <a:t>DisasterNet brings six DSA modules into a Java application for incidents, teams, shelters, resources, communications and observations.</a:t>
            </a:r>
            <a:endParaRPr sz="1300"/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22216CD4-0CAD-4AE3-955E-5BE5009D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75304"/>
            <a:ext cx="8046720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6" name="icon-circle">
            <a:extLst xmlns:a="http://schemas.openxmlformats.org/drawingml/2006/main">
              <a:ext uri="{FF2B5EF4-FFF2-40B4-BE49-F238E27FC236}">
                <a16:creationId xmlns:a16="http://schemas.microsoft.com/office/drawing/2014/main" id="{FBEE00C3-F6D5-473C-B4BB-3A5AB33A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58184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00"/>
          </a:solidFill>
          <a:ln xmlns:a="http://schemas.openxmlformats.org/drawingml/2006/main" w="12700">
            <a:solidFill>
              <a:srgbClr val="FFB400"/>
            </a:solidFill>
            <a:prstDash val="solid"/>
          </a:ln>
        </p:spPr>
      </p:sp>
      <p:pic>
        <p:nvPicPr>
          <p:cNvPr id="17" name="Image 2">
            <a:extLst xmlns:a="http://schemas.openxmlformats.org/drawingml/2006/main">
              <a:ext uri="{FF2B5EF4-FFF2-40B4-BE49-F238E27FC236}">
                <a16:creationId xmlns:a16="http://schemas.microsoft.com/office/drawing/2014/main" id="{B27FDD2B-E438-4C1B-9A9E-D988FE9A80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59e78195c4f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3918204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08BCACC5-C003-458C-B011-067A3E67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03320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Core Insight</a:t>
            </a:r>
            <a:endParaRPr sz="16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70999148-4848-4833-91FA-FB86E381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05072"/>
            <a:ext cx="6766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275A"/>
                </a:solidFill>
                <a:latin typeface="Arial"/>
                <a:ea typeface="Arial"/>
                <a:cs typeface="Arial"/>
              </a:rPr>
              <a:t>Use the right data structure or algorithm for each response task through shared application data.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03764896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222510a00894e9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B2311C8-727F-41A8-9F9C-150F7A7D26F1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Six Java DSA modules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9B2CA0-E6EF-47BA-832E-CBE05256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Algorithms used by the DisasterNet emergency coordination application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73F4E7B-A574-41EF-BFFC-ECCB486B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3</a:t>
            </a:r>
            <a:endParaRPr sz="1000"/>
          </a:p>
        </p:txBody>
      </p:sp>
      <p:sp>
        <p:nvSpPr>
          <p:cNvPr id="6" name="card">
            <a:extLst xmlns:a="http://schemas.openxmlformats.org/drawingml/2006/main">
              <a:ext uri="{FF2B5EF4-FFF2-40B4-BE49-F238E27FC236}">
                <a16:creationId xmlns:a16="http://schemas.microsoft.com/office/drawing/2014/main" id="{E166C855-122D-4016-A5D5-86D56FFE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560320" cy="1481328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7" name="badge">
            <a:extLst xmlns:a="http://schemas.openxmlformats.org/drawingml/2006/main">
              <a:ext uri="{FF2B5EF4-FFF2-40B4-BE49-F238E27FC236}">
                <a16:creationId xmlns:a16="http://schemas.microsoft.com/office/drawing/2014/main" id="{7FF09628-9CE9-41E7-AA98-000BF941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9A"/>
          </a:solidFill>
          <a:ln xmlns:a="http://schemas.openxmlformats.org/drawingml/2006/main" w="12700">
            <a:solidFill>
              <a:srgbClr val="00A39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485C1CA-EAC2-48CE-94A1-1A46715D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M1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5B87375-AF26-4320-8943-8FA41B47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554480"/>
            <a:ext cx="594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CO1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DC82C05-5AEC-46A0-9BE6-A5C6F605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55448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String matching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85443BF-FCF6-4797-AB26-90AD009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1408"/>
            <a:ext cx="2286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C80"/>
                </a:solidFill>
                <a:latin typeface="Arial"/>
                <a:ea typeface="Arial"/>
                <a:cs typeface="Arial"/>
              </a:rPr>
              <a:t>KMP · Z · Rabin–Karp · Aho–Corasick</a:t>
            </a:r>
            <a:endParaRPr sz="10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BA310C3-C01F-4FEF-A588-5318B959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A39A"/>
                </a:solidFill>
                <a:latin typeface="Arial"/>
                <a:ea typeface="Arial"/>
                <a:cs typeface="Arial"/>
              </a:rPr>
              <a:t>Search incident alerts</a:t>
            </a:r>
            <a:endParaRPr sz="1200"/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7CB7EDDE-DCFF-4ADC-B586-EAC186C3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371600"/>
            <a:ext cx="2560320" cy="1481328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4" name="badge">
            <a:extLst xmlns:a="http://schemas.openxmlformats.org/drawingml/2006/main">
              <a:ext uri="{FF2B5EF4-FFF2-40B4-BE49-F238E27FC236}">
                <a16:creationId xmlns:a16="http://schemas.microsoft.com/office/drawing/2014/main" id="{222937C2-D21D-4069-82F1-DE88E714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87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DF6"/>
          </a:solidFill>
          <a:ln xmlns:a="http://schemas.openxmlformats.org/drawingml/2006/main" w="12700">
            <a:solidFill>
              <a:srgbClr val="6C4DF6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5EDB726-85B2-4571-90F1-178AB099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876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M2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8820CDD-E6C6-4976-93C7-088F7FB7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554480"/>
            <a:ext cx="594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CO2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F965C86-76C5-4ADF-A378-FEE5135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55448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Suffix indexing</a:t>
            </a:r>
            <a:endParaRPr sz="1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D9E0CAA-CF4D-4460-91ED-04A6428F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21408"/>
            <a:ext cx="2286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C80"/>
                </a:solidFill>
                <a:latin typeface="Arial"/>
                <a:ea typeface="Arial"/>
                <a:cs typeface="Arial"/>
              </a:rPr>
              <a:t>Suffix array · LCP · automaton</a:t>
            </a:r>
            <a:endParaRPr sz="10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7BBF23F-E35B-4711-B180-399E4EFA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Search report text</a:t>
            </a:r>
            <a:endParaRPr sz="1200"/>
          </a:p>
        </p:txBody>
      </p:sp>
      <p:sp>
        <p:nvSpPr>
          <p:cNvPr id="20" name="card">
            <a:extLst xmlns:a="http://schemas.openxmlformats.org/drawingml/2006/main">
              <a:ext uri="{FF2B5EF4-FFF2-40B4-BE49-F238E27FC236}">
                <a16:creationId xmlns:a16="http://schemas.microsoft.com/office/drawing/2014/main" id="{574F2461-39A7-4987-BC85-620820DD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2560320" cy="1481328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21" name="badge">
            <a:extLst xmlns:a="http://schemas.openxmlformats.org/drawingml/2006/main">
              <a:ext uri="{FF2B5EF4-FFF2-40B4-BE49-F238E27FC236}">
                <a16:creationId xmlns:a16="http://schemas.microsoft.com/office/drawing/2014/main" id="{36DCFACE-A6A3-4432-A27F-518CCAB3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87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00"/>
          </a:solidFill>
          <a:ln xmlns:a="http://schemas.openxmlformats.org/drawingml/2006/main" w="12700">
            <a:solidFill>
              <a:srgbClr val="FFB40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883B609-7D7A-49A4-81D3-B5347467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876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M3</a:t>
            </a:r>
            <a:endParaRPr sz="13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C9FDA45-9F8F-4DBB-BFE0-5D61AD79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554480"/>
            <a:ext cx="594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CO3</a:t>
            </a:r>
            <a:endParaRPr sz="11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B8D935B-19D9-426C-86B1-0B1CBDFF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55448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Dynamic programming</a:t>
            </a:r>
            <a:endParaRPr sz="12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C0A5B67-F59B-4D83-8F58-8F64519E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21408"/>
            <a:ext cx="2286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C80"/>
                </a:solidFill>
                <a:latin typeface="Arial"/>
                <a:ea typeface="Arial"/>
                <a:cs typeface="Arial"/>
              </a:rPr>
              <a:t>Edit distance · knapsack · matrix chain</a:t>
            </a:r>
            <a:endParaRPr sz="10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4EFC72A-306F-4945-980E-38F865E1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B07A00"/>
                </a:solidFill>
                <a:latin typeface="Arial"/>
                <a:ea typeface="Arial"/>
                <a:cs typeface="Arial"/>
              </a:rPr>
              <a:t>Correct text, select supplies</a:t>
            </a:r>
            <a:endParaRPr sz="1200"/>
          </a:p>
        </p:txBody>
      </p:sp>
      <p:sp>
        <p:nvSpPr>
          <p:cNvPr id="27" name="card">
            <a:extLst xmlns:a="http://schemas.openxmlformats.org/drawingml/2006/main">
              <a:ext uri="{FF2B5EF4-FFF2-40B4-BE49-F238E27FC236}">
                <a16:creationId xmlns:a16="http://schemas.microsoft.com/office/drawing/2014/main" id="{64044563-B9C2-44AB-AAFE-15B37582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17520"/>
            <a:ext cx="2560320" cy="1481328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28" name="badge">
            <a:extLst xmlns:a="http://schemas.openxmlformats.org/drawingml/2006/main">
              <a:ext uri="{FF2B5EF4-FFF2-40B4-BE49-F238E27FC236}">
                <a16:creationId xmlns:a16="http://schemas.microsoft.com/office/drawing/2014/main" id="{A2413502-3259-401D-8A35-FB07EF85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46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F0"/>
          </a:solidFill>
          <a:ln xmlns:a="http://schemas.openxmlformats.org/drawingml/2006/main" w="12700">
            <a:solidFill>
              <a:srgbClr val="1E8EF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853AFE6-51FF-4360-AA00-A8A476ED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468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M4</a:t>
            </a:r>
            <a:endParaRPr sz="13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8453E44-EB22-46F8-9DAE-DD1E52AF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200400"/>
            <a:ext cx="594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CO4</a:t>
            </a:r>
            <a:endParaRPr sz="11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B1B2A38-4108-4279-BCD2-9AED1D34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20040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Flow &amp; matching</a:t>
            </a:r>
            <a:endParaRPr sz="12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7BEE800-EBE8-418A-87AB-6E1D12DA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7328"/>
            <a:ext cx="2286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C80"/>
                </a:solidFill>
                <a:latin typeface="Arial"/>
                <a:ea typeface="Arial"/>
                <a:cs typeface="Arial"/>
              </a:rPr>
              <a:t>Ford–Fulkerson · Edmonds–Karp · Dinic</a:t>
            </a:r>
            <a:endParaRPr sz="10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0C6432A9-A5EF-40CC-9085-CCC8624E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8EF0"/>
                </a:solidFill>
                <a:latin typeface="Arial"/>
                <a:ea typeface="Arial"/>
                <a:cs typeface="Arial"/>
              </a:rPr>
              <a:t>Route aid, assign teams</a:t>
            </a:r>
            <a:endParaRPr sz="1200"/>
          </a:p>
        </p:txBody>
      </p:sp>
      <p:sp>
        <p:nvSpPr>
          <p:cNvPr id="34" name="card">
            <a:extLst xmlns:a="http://schemas.openxmlformats.org/drawingml/2006/main">
              <a:ext uri="{FF2B5EF4-FFF2-40B4-BE49-F238E27FC236}">
                <a16:creationId xmlns:a16="http://schemas.microsoft.com/office/drawing/2014/main" id="{7CBFFC94-FCD3-4EBE-861C-7C46BA0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17520"/>
            <a:ext cx="2560320" cy="1481328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35" name="badge">
            <a:extLst xmlns:a="http://schemas.openxmlformats.org/drawingml/2006/main">
              <a:ext uri="{FF2B5EF4-FFF2-40B4-BE49-F238E27FC236}">
                <a16:creationId xmlns:a16="http://schemas.microsoft.com/office/drawing/2014/main" id="{F371BEF6-8486-47DA-8112-70CA7576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546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12700">
            <a:solidFill>
              <a:srgbClr val="FF4F81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3791139-5031-4742-B46C-5627A516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5468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M5</a:t>
            </a:r>
            <a:endParaRPr sz="13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A0226AB-1DF5-420A-A279-FD13D3D5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00400"/>
            <a:ext cx="594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CO5</a:t>
            </a:r>
            <a:endParaRPr sz="11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E6E4E013-8C94-4C5F-B0CE-8E59FF4B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20040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Complexity &amp; reductions</a:t>
            </a:r>
            <a:endParaRPr sz="120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0E7437A-2BCD-4E67-9A84-A718B2E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67328"/>
            <a:ext cx="2286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C80"/>
                </a:solidFill>
                <a:latin typeface="Arial"/>
                <a:ea typeface="Arial"/>
                <a:cs typeface="Arial"/>
              </a:rPr>
              <a:t>SAT · 3-SAT→CLIQUE · IS · VC</a:t>
            </a:r>
            <a:endParaRPr sz="105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22D76072-0D88-4AFA-924F-C775954E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6052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Study hard constraints</a:t>
            </a:r>
            <a:endParaRPr sz="1200"/>
          </a:p>
        </p:txBody>
      </p:sp>
      <p:sp>
        <p:nvSpPr>
          <p:cNvPr id="41" name="card">
            <a:extLst xmlns:a="http://schemas.openxmlformats.org/drawingml/2006/main">
              <a:ext uri="{FF2B5EF4-FFF2-40B4-BE49-F238E27FC236}">
                <a16:creationId xmlns:a16="http://schemas.microsoft.com/office/drawing/2014/main" id="{566A35A3-3A62-45F7-AF4E-8B9661C4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17520"/>
            <a:ext cx="2560320" cy="1481328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42" name="badge">
            <a:extLst xmlns:a="http://schemas.openxmlformats.org/drawingml/2006/main">
              <a:ext uri="{FF2B5EF4-FFF2-40B4-BE49-F238E27FC236}">
                <a16:creationId xmlns:a16="http://schemas.microsoft.com/office/drawing/2014/main" id="{AFB7CD70-1FEC-40C1-9598-53AFFD24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546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9A"/>
          </a:solidFill>
          <a:ln xmlns:a="http://schemas.openxmlformats.org/drawingml/2006/main" w="12700">
            <a:solidFill>
              <a:srgbClr val="00A39A"/>
            </a:solidFill>
            <a:prstDash val="solid"/>
          </a:ln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E0E5D62E-0B04-4E14-84AA-96F37E57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5468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M6</a:t>
            </a:r>
            <a:endParaRPr sz="13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493F5641-485B-47C3-989A-78E9E805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200400"/>
            <a:ext cx="594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CO6</a:t>
            </a:r>
            <a:endParaRPr sz="11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8C2B65B2-A560-4152-97BB-1DBE471F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20040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Randomized &amp; parallel</a:t>
            </a:r>
            <a:endParaRPr sz="12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D68E42D4-CAFB-433D-B2FD-1CD25900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7328"/>
            <a:ext cx="2286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C80"/>
                </a:solidFill>
                <a:latin typeface="Arial"/>
                <a:ea typeface="Arial"/>
                <a:cs typeface="Arial"/>
              </a:rPr>
              <a:t>QuickSort · sampling · primality · scan</a:t>
            </a:r>
            <a:endParaRPr sz="1050"/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C2B32BA2-CBDF-4917-9AAF-E3A6B7D6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6052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A39A"/>
                </a:solidFill>
                <a:latin typeface="Arial"/>
                <a:ea typeface="Arial"/>
                <a:cs typeface="Arial"/>
              </a:rPr>
              <a:t>Process observation data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27198092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7381ecd2e7e40b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E0DC23-F737-4F8C-9A5C-8143D0F0E937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Module 1 · Incident search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A2424FC-89F8-497E-96F6-C4886197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Find keywords and alert patterns in response records</a:t>
            </a:r>
            <a:endParaRPr sz="1400"/>
          </a:p>
        </p:txBody>
      </p:sp>
      <p:sp>
        <p:nvSpPr>
          <p:cNvPr id="4" name="module-badge">
            <a:extLst xmlns:a="http://schemas.openxmlformats.org/drawingml/2006/main">
              <a:ext uri="{FF2B5EF4-FFF2-40B4-BE49-F238E27FC236}">
                <a16:creationId xmlns:a16="http://schemas.microsoft.com/office/drawing/2014/main" id="{3FED82B2-3BE7-48C5-BEA0-F2B83FF9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00"/>
          </a:solidFill>
          <a:ln xmlns:a="http://schemas.openxmlformats.org/drawingml/2006/main" w="381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6D16F97-D2AF-492F-9F77-570DFB7A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M1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B9FFB83-C713-4691-ACFB-A23C6D8D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4</a:t>
            </a:r>
            <a:endParaRPr sz="1000"/>
          </a:p>
        </p:txBody>
      </p:sp>
      <p:graphicFrame>
        <p:nvGraphicFramePr>
          <p:cNvPr id="7" name="table">
            <a:extLst xmlns:a="http://schemas.openxmlformats.org/drawingml/2006/main">
              <a:ext uri="{FF2B5EF4-FFF2-40B4-BE49-F238E27FC236}">
                <a16:creationId xmlns:a16="http://schemas.microsoft.com/office/drawing/2014/main" id="{069B1ECF-1D31-4C48-BC81-4D554CFF8A71}"/>
              </a:ext>
            </a:extLst>
          </p:cNvPr>
          <p:cNvGraphicFramePr/>
          <p:nvPr/>
        </p:nvGraphicFramePr>
        <p:xfrm>
          <a:off xmlns:a="http://schemas.openxmlformats.org/drawingml/2006/main" x="548640" y="1371600"/>
          <a:ext xmlns:a="http://schemas.openxmlformats.org/drawingml/2006/main" cx="5120640" cy="230428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0160"/>
                <a:gridCol w="1828800"/>
                <a:gridCol w="201168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DisasterNet use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B4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KMP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Prefix table search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One alert keyword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Z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Prefix matches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Compare report text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Rabin-Karp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Rolling hash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Search one term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Aho-Corasick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Trie plus failure links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Search many alert terms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Trie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Prefix tree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Term lookup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E6AACBA7-116E-4A48-8702-77CE05F9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71600"/>
            <a:ext cx="2651760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0" name="stat-dot">
            <a:extLst xmlns:a="http://schemas.openxmlformats.org/drawingml/2006/main">
              <a:ext uri="{FF2B5EF4-FFF2-40B4-BE49-F238E27FC236}">
                <a16:creationId xmlns:a16="http://schemas.microsoft.com/office/drawing/2014/main" id="{6908A821-0E40-4D15-91C0-645B7476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4538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12700">
            <a:solidFill>
              <a:srgbClr val="FF4F81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51098AD-1536-45DE-B58D-B323DB3B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453896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  <a:endParaRPr sz="15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6C01D92-5C0E-4AB7-912A-D0A69AB8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453896"/>
            <a:ext cx="18288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Incidents</a:t>
            </a:r>
            <a:endParaRPr sz="1400"/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E39A4AB1-5585-4FFC-9E77-1ABB134B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57984"/>
            <a:ext cx="2651760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4" name="stat-dot">
            <a:extLst xmlns:a="http://schemas.openxmlformats.org/drawingml/2006/main">
              <a:ext uri="{FF2B5EF4-FFF2-40B4-BE49-F238E27FC236}">
                <a16:creationId xmlns:a16="http://schemas.microsoft.com/office/drawing/2014/main" id="{54CB43FC-A7C1-416E-A815-69C9A608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22402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9A"/>
          </a:solidFill>
          <a:ln xmlns:a="http://schemas.openxmlformats.org/drawingml/2006/main" w="12700">
            <a:solidFill>
              <a:srgbClr val="00A39A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65A76F0-3FF4-4151-B8CB-95906EB8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2240280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sz="15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FF9F72F-8A8A-41F0-81D6-2C9A0F8C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240280"/>
            <a:ext cx="18288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Rescue teams</a:t>
            </a:r>
            <a:endParaRPr sz="1400"/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A1D4FD64-1F64-4AB9-A105-D962A6CC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44368"/>
            <a:ext cx="2651760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8" name="stat-dot">
            <a:extLst xmlns:a="http://schemas.openxmlformats.org/drawingml/2006/main">
              <a:ext uri="{FF2B5EF4-FFF2-40B4-BE49-F238E27FC236}">
                <a16:creationId xmlns:a16="http://schemas.microsoft.com/office/drawing/2014/main" id="{24CBA61A-2294-41E3-B79C-9A923C7E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302666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F0"/>
          </a:solidFill>
          <a:ln xmlns:a="http://schemas.openxmlformats.org/drawingml/2006/main" w="12700">
            <a:solidFill>
              <a:srgbClr val="1E8EF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9541B821-75B0-4356-8A04-C5A66B91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3026664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sz="15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E60642B-07E6-489E-AE86-04EA3636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026664"/>
            <a:ext cx="18288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Shelters</a:t>
            </a:r>
            <a:endParaRPr sz="14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D52F7990-3F15-4746-8EAF-8DA386F0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49040"/>
            <a:ext cx="2651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Seeded data</a:t>
            </a:r>
            <a:endParaRPr sz="1100"/>
          </a:p>
        </p:txBody>
      </p:sp>
      <p:sp>
        <p:nvSpPr>
          <p:cNvPr id="22" name="card">
            <a:extLst xmlns:a="http://schemas.openxmlformats.org/drawingml/2006/main">
              <a:ext uri="{FF2B5EF4-FFF2-40B4-BE49-F238E27FC236}">
                <a16:creationId xmlns:a16="http://schemas.microsoft.com/office/drawing/2014/main" id="{36E473E4-018A-4D8B-BCF2-944C4BED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5120640" cy="9144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23" name="icon-circle">
            <a:extLst xmlns:a="http://schemas.openxmlformats.org/drawingml/2006/main">
              <a:ext uri="{FF2B5EF4-FFF2-40B4-BE49-F238E27FC236}">
                <a16:creationId xmlns:a16="http://schemas.microsoft.com/office/drawing/2014/main" id="{F0C47B22-2668-4D78-8BAB-D1D7D98E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776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DF6"/>
          </a:solidFill>
          <a:ln xmlns:a="http://schemas.openxmlformats.org/drawingml/2006/main" w="12700">
            <a:solidFill>
              <a:srgbClr val="6C4DF6"/>
            </a:solidFill>
            <a:prstDash val="solid"/>
          </a:ln>
        </p:spPr>
      </p:sp>
      <p:pic>
        <p:nvPicPr>
          <p:cNvPr id="24" name="Image 0">
            <a:extLst xmlns:a="http://schemas.openxmlformats.org/drawingml/2006/main">
              <a:ext uri="{FF2B5EF4-FFF2-40B4-BE49-F238E27FC236}">
                <a16:creationId xmlns:a16="http://schemas.microsoft.com/office/drawing/2014/main" id="{4B19035E-4EE8-49E9-B4FD-136ABC4476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e5e015ff846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" y="409194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063E1FB5-0AF0-4F0F-A4EA-433A38CD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813048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Single &amp; multi-pattern search</a:t>
            </a:r>
            <a:endParaRPr sz="14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9D3FC3B6-41CB-4529-B268-EC1A040E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069080"/>
            <a:ext cx="4206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KMP, Z and Rabin–Karp search one pattern; Aho–Corasick searches many patterns in one pass.</a:t>
            </a:r>
            <a:endParaRPr sz="1100"/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16B5A09-6A65-49F6-8ABF-999FBE09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34840"/>
            <a:ext cx="4206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Implemented string algorithms; no timing comparison claimed.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69059782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953d18c79264c0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6EB2156-1257-469E-A539-EE8DB0A11D30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Module 2 · Report indexing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4D43E7-C606-40A1-8F4F-10763E2F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Build text indexes for repeated substring queries</a:t>
            </a:r>
            <a:endParaRPr sz="1400"/>
          </a:p>
        </p:txBody>
      </p:sp>
      <p:sp>
        <p:nvSpPr>
          <p:cNvPr id="4" name="module-badge">
            <a:extLst xmlns:a="http://schemas.openxmlformats.org/drawingml/2006/main">
              <a:ext uri="{FF2B5EF4-FFF2-40B4-BE49-F238E27FC236}">
                <a16:creationId xmlns:a16="http://schemas.microsoft.com/office/drawing/2014/main" id="{496644CE-1815-4324-A675-18A68F99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F0"/>
          </a:solidFill>
          <a:ln xmlns:a="http://schemas.openxmlformats.org/drawingml/2006/main" w="381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8256C3C-0043-4020-8045-34651EFE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M2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A7B8C7-2D32-4775-9BE9-9FECBA61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5</a:t>
            </a:r>
            <a:endParaRPr sz="1000"/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ECEC5642-B087-4399-8C12-A3FD0FA6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383280" cy="329184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graphicFrame>
        <p:nvGraphicFramePr>
          <p:cNvPr id="9" name="Chart 0">
            <a:extLst xmlns:a="http://schemas.openxmlformats.org/drawingml/2006/main">
              <a:ext uri="{FF2B5EF4-FFF2-40B4-BE49-F238E27FC236}">
                <a16:creationId xmlns:a16="http://schemas.microsoft.com/office/drawing/2014/main" id="{E6B91D81-444F-431D-A0FE-F34265B9AB67}"/>
              </a:ext>
            </a:extLst>
          </p:cNvPr>
          <p:cNvGraphicFramePr/>
          <p:nvPr/>
        </p:nvGraphicFramePr>
        <p:xfrm>
          <a:off xmlns:a="http://schemas.openxmlformats.org/drawingml/2006/main" x="640080" y="1463040"/>
          <a:ext xmlns:a="http://schemas.openxmlformats.org/drawingml/2006/main" cx="3200400" cy="31089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1e1d110deb4369"/>
          </a:graphicData>
        </a:graphic>
      </p:graphicFrame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6ED0EBC3-36FC-466F-9DC1-BAC0D1CF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71600"/>
            <a:ext cx="4480560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82C101F-9446-427F-BDF9-B858DBD1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444752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Suffix array   </a:t>
            </a:r>
            <a:r>
              <a:rPr sz="1050">
                <a:solidFill>
                  <a:srgbClr val="4A4C80"/>
                </a:solidFill>
                <a:latin typeface="Arial"/>
                <a:ea typeface="Arial"/>
                <a:cs typeface="Arial"/>
              </a:rPr>
              <a:t>O(n log² n) doubling → O(n) SA-IS</a:t>
            </a:r>
            <a:endParaRPr sz="14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C91617D-83BC-4281-B959-0A3CE636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700784"/>
            <a:ext cx="4206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5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How: </a:t>
            </a:r>
            <a:r>
              <a:rPr sz="1050">
                <a:solidFill>
                  <a:srgbClr val="26275A"/>
                </a:solidFill>
                <a:latin typeface="Arial"/>
                <a:ea typeface="Arial"/>
                <a:cs typeface="Arial"/>
              </a:rPr>
              <a:t>Sorted list of every suffix start; SA-IS builds it in linear time.</a:t>
            </a:r>
            <a:endParaRPr sz="10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5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Why: </a:t>
            </a:r>
            <a:r>
              <a:rPr sz="1050">
                <a:solidFill>
                  <a:srgbClr val="26275A"/>
                </a:solidFill>
                <a:latin typeface="Arial"/>
                <a:ea typeface="Arial"/>
                <a:cs typeface="Arial"/>
              </a:rPr>
              <a:t>Index flight/airport documents; any substring query becomes a binary search, O(m log n).</a:t>
            </a:r>
            <a:endParaRPr sz="1050"/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4124DA9C-7C6C-400D-AC5D-0EF7818B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87168"/>
            <a:ext cx="4480560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3409834-86DA-4C9A-B779-FF5B6205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2560320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A39A"/>
                </a:solidFill>
                <a:latin typeface="Arial"/>
                <a:ea typeface="Arial"/>
                <a:cs typeface="Arial"/>
              </a:rPr>
              <a:t>Kasai LCP   </a:t>
            </a:r>
            <a:r>
              <a:rPr sz="1050">
                <a:solidFill>
                  <a:srgbClr val="4A4C80"/>
                </a:solidFill>
                <a:latin typeface="Arial"/>
                <a:ea typeface="Arial"/>
                <a:cs typeface="Arial"/>
              </a:rPr>
              <a:t>O(n)</a:t>
            </a:r>
            <a:endParaRPr sz="14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EC4F728E-0304-453B-82F4-E6D95BBB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2816352"/>
            <a:ext cx="4206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50" b="1">
                <a:solidFill>
                  <a:srgbClr val="00A39A"/>
                </a:solidFill>
                <a:latin typeface="Arial"/>
                <a:ea typeface="Arial"/>
                <a:cs typeface="Arial"/>
              </a:rPr>
              <a:t>How: </a:t>
            </a:r>
            <a:r>
              <a:rPr sz="1050">
                <a:solidFill>
                  <a:srgbClr val="26275A"/>
                </a:solidFill>
                <a:latin typeface="Arial"/>
                <a:ea typeface="Arial"/>
                <a:cs typeface="Arial"/>
              </a:rPr>
              <a:t>Longest common prefix of neighbouring suffixes, in one amortised pass.</a:t>
            </a:r>
            <a:endParaRPr sz="10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50" b="1">
                <a:solidFill>
                  <a:srgbClr val="00A39A"/>
                </a:solidFill>
                <a:latin typeface="Arial"/>
                <a:ea typeface="Arial"/>
                <a:cs typeface="Arial"/>
              </a:rPr>
              <a:t>Why: </a:t>
            </a:r>
            <a:r>
              <a:rPr sz="1050">
                <a:solidFill>
                  <a:srgbClr val="26275A"/>
                </a:solidFill>
                <a:latin typeface="Arial"/>
                <a:ea typeface="Arial"/>
                <a:cs typeface="Arial"/>
              </a:rPr>
              <a:t>Finds the longest repeated text, e.g. repeated descriptions ("ana" in "banana").</a:t>
            </a:r>
            <a:endParaRPr sz="1050"/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CBF84067-0AEF-4A01-9E45-E5F890AC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2736"/>
            <a:ext cx="4480560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EEAC88B-3342-4FCD-8548-C86C94D9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675888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Suffix automaton   </a:t>
            </a:r>
            <a:r>
              <a:rPr sz="1050">
                <a:solidFill>
                  <a:srgbClr val="4A4C80"/>
                </a:solidFill>
                <a:latin typeface="Arial"/>
                <a:ea typeface="Arial"/>
                <a:cs typeface="Arial"/>
              </a:rPr>
              <a:t>O(n) online</a:t>
            </a:r>
            <a:endParaRPr sz="14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90BC379B-620E-40AA-A045-023E390F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931920"/>
            <a:ext cx="4206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5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How: </a:t>
            </a:r>
            <a:r>
              <a:rPr sz="1050">
                <a:solidFill>
                  <a:srgbClr val="26275A"/>
                </a:solidFill>
                <a:latin typeface="Arial"/>
                <a:ea typeface="Arial"/>
                <a:cs typeface="Arial"/>
              </a:rPr>
              <a:t>Smallest automaton accepting every substring of the text.</a:t>
            </a:r>
            <a:endParaRPr sz="10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5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Why: </a:t>
            </a:r>
            <a:r>
              <a:rPr sz="1050">
                <a:solidFill>
                  <a:srgbClr val="26275A"/>
                </a:solidFill>
                <a:latin typeface="Arial"/>
                <a:ea typeface="Arial"/>
                <a:cs typeface="Arial"/>
              </a:rPr>
              <a:t>Instant "does this text appear?" queries and distinct-substring counts.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821981149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d34efc922a1434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1F0FA46-9DB1-4D7D-BAC7-5BA05C1460AD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Module 3 · Dynamic programming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DC75E4-D646-4669-BA15-917498AD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Correct entered text and choose resources under a capacity limit</a:t>
            </a:r>
            <a:endParaRPr sz="1400"/>
          </a:p>
        </p:txBody>
      </p:sp>
      <p:sp>
        <p:nvSpPr>
          <p:cNvPr id="4" name="module-badge">
            <a:extLst xmlns:a="http://schemas.openxmlformats.org/drawingml/2006/main">
              <a:ext uri="{FF2B5EF4-FFF2-40B4-BE49-F238E27FC236}">
                <a16:creationId xmlns:a16="http://schemas.microsoft.com/office/drawing/2014/main" id="{06A872CC-4029-4D7A-A221-99E3E101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DF6"/>
          </a:solidFill>
          <a:ln xmlns:a="http://schemas.openxmlformats.org/drawingml/2006/main" w="381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5CB82EC-1245-4FE8-97D8-118DD777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M3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27A60A-490C-4CCB-871D-618DB94E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6</a:t>
            </a:r>
            <a:endParaRPr sz="1000"/>
          </a:p>
        </p:txBody>
      </p:sp>
      <p:sp>
        <p:nvSpPr>
          <p:cNvPr id="8" name="icon-circle">
            <a:extLst xmlns:a="http://schemas.openxmlformats.org/drawingml/2006/main">
              <a:ext uri="{FF2B5EF4-FFF2-40B4-BE49-F238E27FC236}">
                <a16:creationId xmlns:a16="http://schemas.microsoft.com/office/drawing/2014/main" id="{1EE88A05-A660-4227-BDDB-A348E1FD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12700">
            <a:solidFill>
              <a:srgbClr val="FF4F81"/>
            </a:solidFill>
            <a:prstDash val="solid"/>
          </a:ln>
        </p:spPr>
      </p:sp>
      <p:pic>
        <p:nvPicPr>
          <p:cNvPr id="9" name="Image 0">
            <a:extLst xmlns:a="http://schemas.openxmlformats.org/drawingml/2006/main">
              <a:ext uri="{FF2B5EF4-FFF2-40B4-BE49-F238E27FC236}">
                <a16:creationId xmlns:a16="http://schemas.microsoft.com/office/drawing/2014/main" id="{FA106347-9208-447E-9909-7E9B17C167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a0638ceff4d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417320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1C93DDD-4052-4C02-9A21-1E152743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32588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Fixing and comparing text</a:t>
            </a:r>
            <a:endParaRPr sz="1400"/>
          </a:p>
        </p:txBody>
      </p:sp>
      <p:graphicFrame>
        <p:nvGraphicFramePr>
          <p:cNvPr id="7" name="table">
            <a:extLst xmlns:a="http://schemas.openxmlformats.org/drawingml/2006/main">
              <a:ext uri="{FF2B5EF4-FFF2-40B4-BE49-F238E27FC236}">
                <a16:creationId xmlns:a16="http://schemas.microsoft.com/office/drawing/2014/main" id="{E410EB4C-C5FC-48BD-A363-48F0A5D108CE}"/>
              </a:ext>
            </a:extLst>
          </p:cNvPr>
          <p:cNvGraphicFramePr/>
          <p:nvPr/>
        </p:nvGraphicFramePr>
        <p:xfrm>
          <a:off xmlns:a="http://schemas.openxmlformats.org/drawingml/2006/main" x="548640" y="1783080"/>
          <a:ext xmlns:a="http://schemas.openxmlformats.org/drawingml/2006/main" cx="3931920" cy="28346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5840"/>
                <a:gridCol w="1463040"/>
                <a:gridCol w="146304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6C4D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6C4D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DisasterNet use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6C4D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Levenshtein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Insertion/deletion/substitution DP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Rank text corrections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Damerau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E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Adds adjacent transposition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E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Correct mistyped terms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E9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Weighted edit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Configured operation costs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Compare text variants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E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E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Alignment algorithms are not implemented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E9FF"/>
                    </a:solidFill>
                  </a:tcPr>
                </a:tc>
              </a:tr>
            </a:tbl>
          </a:graphicData>
        </a:graphic>
      </p:graphicFrame>
      <p:sp>
        <p:nvSpPr>
          <p:cNvPr id="12" name="icon-circle">
            <a:extLst xmlns:a="http://schemas.openxmlformats.org/drawingml/2006/main">
              <a:ext uri="{FF2B5EF4-FFF2-40B4-BE49-F238E27FC236}">
                <a16:creationId xmlns:a16="http://schemas.microsoft.com/office/drawing/2014/main" id="{D5CFB971-4B1A-431E-A5A6-79D5E53F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325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9A"/>
          </a:solidFill>
          <a:ln xmlns:a="http://schemas.openxmlformats.org/drawingml/2006/main" w="12700">
            <a:solidFill>
              <a:srgbClr val="00A39A"/>
            </a:solidFill>
            <a:prstDash val="solid"/>
          </a:ln>
        </p:spPr>
      </p:sp>
      <p:pic>
        <p:nvPicPr>
          <p:cNvPr id="13" name="Image 1">
            <a:extLst xmlns:a="http://schemas.openxmlformats.org/drawingml/2006/main">
              <a:ext uri="{FF2B5EF4-FFF2-40B4-BE49-F238E27FC236}">
                <a16:creationId xmlns:a16="http://schemas.microsoft.com/office/drawing/2014/main" id="{4035F2F5-AF5D-48E5-A382-00581BB843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66265a2d042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1417320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60D9E605-5998-4462-AD07-1B0C7546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32588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Optimising choices</a:t>
            </a:r>
            <a:endParaRPr sz="1400"/>
          </a:p>
        </p:txBody>
      </p:sp>
      <p:graphicFrame>
        <p:nvGraphicFramePr>
          <p:cNvPr id="11" name="table">
            <a:extLst xmlns:a="http://schemas.openxmlformats.org/drawingml/2006/main">
              <a:ext uri="{FF2B5EF4-FFF2-40B4-BE49-F238E27FC236}">
                <a16:creationId xmlns:a16="http://schemas.microsoft.com/office/drawing/2014/main" id="{B9061F26-644F-4FEE-9BCA-2E2610F37F91}"/>
              </a:ext>
            </a:extLst>
          </p:cNvPr>
          <p:cNvGraphicFramePr/>
          <p:nvPr/>
        </p:nvGraphicFramePr>
        <p:xfrm>
          <a:off xmlns:a="http://schemas.openxmlformats.org/drawingml/2006/main" x="4663440" y="1783080"/>
          <a:ext xmlns:a="http://schemas.openxmlformats.org/drawingml/2006/main" cx="3931920" cy="28346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5840"/>
                <a:gridCol w="1463040"/>
                <a:gridCol w="146304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A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A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DisasterNet use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A39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0/1 knapsack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Capacity-constrained DP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Select resources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Matrix-chain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Interval DP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Order matrix operations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SOS DP is not implemented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Optimal BST is not implemented</a:t>
                      </a:r>
                      <a:endParaRPr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492041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070208458e44ab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5F6A816-4E6F-4ADA-81F5-21DD6B390308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Module 4 · Flow &amp; team matching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84813DF-28C4-4808-8452-365BBB1B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Model relief movement and assign rescue teams to response needs</a:t>
            </a:r>
            <a:endParaRPr sz="1400"/>
          </a:p>
        </p:txBody>
      </p:sp>
      <p:sp>
        <p:nvSpPr>
          <p:cNvPr id="4" name="module-badge">
            <a:extLst xmlns:a="http://schemas.openxmlformats.org/drawingml/2006/main">
              <a:ext uri="{FF2B5EF4-FFF2-40B4-BE49-F238E27FC236}">
                <a16:creationId xmlns:a16="http://schemas.microsoft.com/office/drawing/2014/main" id="{D9EFB99F-00A3-4EE1-AD06-47C57AC7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381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5D3DBC7-83FD-4256-808F-A5A27DFC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M4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63EB1B-0A7F-4C27-ACC6-927F6D69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7</a:t>
            </a:r>
            <a:endParaRPr sz="1000"/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A4EBEA2F-D932-42A2-9D39-0FB0920D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120640" cy="2606040"/>
          </a:xfrm>
          <a:prstGeom xmlns:a="http://schemas.openxmlformats.org/drawingml/2006/main" prst="roundRect">
            <a:avLst>
              <a:gd name="adj" fmla="val 49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81AA201-11FC-4B9C-AD1B-64970EC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9888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Illustrative supply network · capacities shown in model units</a:t>
            </a:r>
            <a:endParaRPr sz="1000"/>
          </a:p>
        </p:txBody>
      </p:sp>
      <p:sp>
        <p:nvSpPr>
          <p:cNvPr id="10" name="edge">
            <a:extLst xmlns:a="http://schemas.openxmlformats.org/drawingml/2006/main">
              <a:ext uri="{FF2B5EF4-FFF2-40B4-BE49-F238E27FC236}">
                <a16:creationId xmlns:a16="http://schemas.microsoft.com/office/drawing/2014/main" id="{7D05A15F-F280-477A-992A-53FA01FF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5840" y="2103120"/>
            <a:ext cx="914400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93D8"/>
            </a:solidFill>
            <a:prstDash val="solid"/>
            <a:tailEnd type="triangle"/>
          </a:ln>
        </p:spPr>
      </p:sp>
      <p:sp>
        <p:nvSpPr>
          <p:cNvPr id="11" name="edge">
            <a:extLst xmlns:a="http://schemas.openxmlformats.org/drawingml/2006/main">
              <a:ext uri="{FF2B5EF4-FFF2-40B4-BE49-F238E27FC236}">
                <a16:creationId xmlns:a16="http://schemas.microsoft.com/office/drawing/2014/main" id="{B9819686-E9C1-4EC2-8F31-79B69EC0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43200"/>
            <a:ext cx="9144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93D8"/>
            </a:solidFill>
            <a:prstDash val="solid"/>
            <a:tailEnd type="triangle"/>
          </a:ln>
        </p:spPr>
      </p:sp>
      <p:sp>
        <p:nvSpPr>
          <p:cNvPr id="12" name="edge">
            <a:extLst xmlns:a="http://schemas.openxmlformats.org/drawingml/2006/main">
              <a:ext uri="{FF2B5EF4-FFF2-40B4-BE49-F238E27FC236}">
                <a16:creationId xmlns:a16="http://schemas.microsoft.com/office/drawing/2014/main" id="{504ABE7E-8311-4612-8EB3-23C46FF8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103120"/>
            <a:ext cx="960120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93D8"/>
            </a:solidFill>
            <a:prstDash val="solid"/>
            <a:tailEnd type="triangle"/>
          </a:ln>
        </p:spPr>
      </p:sp>
      <p:sp>
        <p:nvSpPr>
          <p:cNvPr id="13" name="edge">
            <a:extLst xmlns:a="http://schemas.openxmlformats.org/drawingml/2006/main">
              <a:ext uri="{FF2B5EF4-FFF2-40B4-BE49-F238E27FC236}">
                <a16:creationId xmlns:a16="http://schemas.microsoft.com/office/drawing/2014/main" id="{F9498D96-3EB1-4FD8-B6C3-A4DBCC3E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20240" y="2743200"/>
            <a:ext cx="96012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93D8"/>
            </a:solidFill>
            <a:prstDash val="solid"/>
            <a:tailEnd type="triangle"/>
          </a:ln>
        </p:spPr>
      </p:sp>
      <p:sp>
        <p:nvSpPr>
          <p:cNvPr id="14" name="edge">
            <a:extLst xmlns:a="http://schemas.openxmlformats.org/drawingml/2006/main">
              <a:ext uri="{FF2B5EF4-FFF2-40B4-BE49-F238E27FC236}">
                <a16:creationId xmlns:a16="http://schemas.microsoft.com/office/drawing/2014/main" id="{FB3E1C87-9C67-4885-A796-D6C33DC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80360" y="2103120"/>
            <a:ext cx="914400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93D8"/>
            </a:solidFill>
            <a:prstDash val="solid"/>
            <a:tailEnd type="triangle"/>
          </a:ln>
        </p:spPr>
      </p:sp>
      <p:sp>
        <p:nvSpPr>
          <p:cNvPr id="15" name="edge">
            <a:extLst xmlns:a="http://schemas.openxmlformats.org/drawingml/2006/main">
              <a:ext uri="{FF2B5EF4-FFF2-40B4-BE49-F238E27FC236}">
                <a16:creationId xmlns:a16="http://schemas.microsoft.com/office/drawing/2014/main" id="{00E8AFCA-45F4-4AD2-889D-C7E6A1ED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743200"/>
            <a:ext cx="9144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93D8"/>
            </a:solidFill>
            <a:prstDash val="solid"/>
            <a:tailEnd type="triangle"/>
          </a:ln>
        </p:spPr>
      </p:sp>
      <p:sp>
        <p:nvSpPr>
          <p:cNvPr id="16" name="edge">
            <a:extLst xmlns:a="http://schemas.openxmlformats.org/drawingml/2006/main">
              <a:ext uri="{FF2B5EF4-FFF2-40B4-BE49-F238E27FC236}">
                <a16:creationId xmlns:a16="http://schemas.microsoft.com/office/drawing/2014/main" id="{2473B9E3-4058-4666-8318-5D1D3049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03120"/>
            <a:ext cx="960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93D8"/>
            </a:solidFill>
            <a:prstDash val="solid"/>
            <a:tailEnd type="triangle"/>
          </a:ln>
        </p:spPr>
      </p:sp>
      <p:sp>
        <p:nvSpPr>
          <p:cNvPr id="17" name="edge">
            <a:extLst xmlns:a="http://schemas.openxmlformats.org/drawingml/2006/main">
              <a:ext uri="{FF2B5EF4-FFF2-40B4-BE49-F238E27FC236}">
                <a16:creationId xmlns:a16="http://schemas.microsoft.com/office/drawing/2014/main" id="{0EE3FDD8-B3BD-4008-B896-BABAE13A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103120"/>
            <a:ext cx="320040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4F81"/>
            </a:solidFill>
            <a:prstDash val="solid"/>
            <a:tailEnd type="triangle"/>
          </a:ln>
        </p:spPr>
      </p:sp>
      <p:sp>
        <p:nvSpPr>
          <p:cNvPr id="18" name="edge">
            <a:extLst xmlns:a="http://schemas.openxmlformats.org/drawingml/2006/main">
              <a:ext uri="{FF2B5EF4-FFF2-40B4-BE49-F238E27FC236}">
                <a16:creationId xmlns:a16="http://schemas.microsoft.com/office/drawing/2014/main" id="{307BE4AB-3568-4E93-BF39-E055B122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794760" y="2743200"/>
            <a:ext cx="128016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4F81"/>
            </a:solidFill>
            <a:prstDash val="solid"/>
            <a:tailEnd type="triangle"/>
          </a:ln>
        </p:spPr>
      </p:sp>
      <p:sp>
        <p:nvSpPr>
          <p:cNvPr id="19" name="cap-bg">
            <a:extLst xmlns:a="http://schemas.openxmlformats.org/drawingml/2006/main">
              <a:ext uri="{FF2B5EF4-FFF2-40B4-BE49-F238E27FC236}">
                <a16:creationId xmlns:a16="http://schemas.microsoft.com/office/drawing/2014/main" id="{63CBDA96-2122-4C2A-863E-B7A110E0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331720"/>
            <a:ext cx="310896" cy="18288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2EC38EC-591B-46E6-AA74-E31E4CFE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331720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300</a:t>
            </a:r>
            <a:endParaRPr sz="900"/>
          </a:p>
        </p:txBody>
      </p:sp>
      <p:sp>
        <p:nvSpPr>
          <p:cNvPr id="21" name="cap-bg">
            <a:extLst xmlns:a="http://schemas.openxmlformats.org/drawingml/2006/main">
              <a:ext uri="{FF2B5EF4-FFF2-40B4-BE49-F238E27FC236}">
                <a16:creationId xmlns:a16="http://schemas.microsoft.com/office/drawing/2014/main" id="{9D37FFA6-F727-449A-8801-AF1B9BDE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994660"/>
            <a:ext cx="310896" cy="18288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4F91126-1C57-48DD-8994-6F4B19B5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994660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120</a:t>
            </a:r>
            <a:endParaRPr sz="900"/>
          </a:p>
        </p:txBody>
      </p:sp>
      <p:sp>
        <p:nvSpPr>
          <p:cNvPr id="23" name="cap-bg">
            <a:extLst xmlns:a="http://schemas.openxmlformats.org/drawingml/2006/main">
              <a:ext uri="{FF2B5EF4-FFF2-40B4-BE49-F238E27FC236}">
                <a16:creationId xmlns:a16="http://schemas.microsoft.com/office/drawing/2014/main" id="{C4F7425E-1B9E-4BA3-BFF0-4D1F4AD6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852" y="2331720"/>
            <a:ext cx="310896" cy="18288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5A985D4-C404-474C-B13D-B544046E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852" y="2331720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220</a:t>
            </a:r>
            <a:endParaRPr sz="900"/>
          </a:p>
        </p:txBody>
      </p:sp>
      <p:sp>
        <p:nvSpPr>
          <p:cNvPr id="25" name="cap-bg">
            <a:extLst xmlns:a="http://schemas.openxmlformats.org/drawingml/2006/main">
              <a:ext uri="{FF2B5EF4-FFF2-40B4-BE49-F238E27FC236}">
                <a16:creationId xmlns:a16="http://schemas.microsoft.com/office/drawing/2014/main" id="{38D21CCB-D8D7-4409-8528-8915447C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852" y="2994660"/>
            <a:ext cx="310896" cy="18288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412F50F-9E01-4C4C-A755-92606368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852" y="2994660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120</a:t>
            </a:r>
            <a:endParaRPr sz="900"/>
          </a:p>
        </p:txBody>
      </p:sp>
      <p:sp>
        <p:nvSpPr>
          <p:cNvPr id="27" name="cap-bg">
            <a:extLst xmlns:a="http://schemas.openxmlformats.org/drawingml/2006/main">
              <a:ext uri="{FF2B5EF4-FFF2-40B4-BE49-F238E27FC236}">
                <a16:creationId xmlns:a16="http://schemas.microsoft.com/office/drawing/2014/main" id="{83C1048D-CBBB-4EF8-8FF3-C6DF5158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2331720"/>
            <a:ext cx="310896" cy="18288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A0EEDBC0-0D1A-45E0-AB7F-0E326E08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2331720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180</a:t>
            </a:r>
            <a:endParaRPr sz="900"/>
          </a:p>
        </p:txBody>
      </p:sp>
      <p:sp>
        <p:nvSpPr>
          <p:cNvPr id="29" name="cap-bg">
            <a:extLst xmlns:a="http://schemas.openxmlformats.org/drawingml/2006/main">
              <a:ext uri="{FF2B5EF4-FFF2-40B4-BE49-F238E27FC236}">
                <a16:creationId xmlns:a16="http://schemas.microsoft.com/office/drawing/2014/main" id="{45985B3F-6D34-4EE7-A349-7E8235B1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2994660"/>
            <a:ext cx="310896" cy="18288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D42F3FC-73C1-479B-AEE0-A6ADEA1F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2994660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160</a:t>
            </a:r>
            <a:endParaRPr sz="900"/>
          </a:p>
        </p:txBody>
      </p:sp>
      <p:sp>
        <p:nvSpPr>
          <p:cNvPr id="31" name="cap-bg">
            <a:extLst xmlns:a="http://schemas.openxmlformats.org/drawingml/2006/main">
              <a:ext uri="{FF2B5EF4-FFF2-40B4-BE49-F238E27FC236}">
                <a16:creationId xmlns:a16="http://schemas.microsoft.com/office/drawing/2014/main" id="{9C528DA6-503F-4238-A429-1830F81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372" y="1856232"/>
            <a:ext cx="310896" cy="18288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4AE2C74-DA59-483C-8B58-415BF2D9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372" y="1856232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150</a:t>
            </a:r>
            <a:endParaRPr sz="900"/>
          </a:p>
        </p:txBody>
      </p:sp>
      <p:sp>
        <p:nvSpPr>
          <p:cNvPr id="33" name="cap-bg">
            <a:extLst xmlns:a="http://schemas.openxmlformats.org/drawingml/2006/main">
              <a:ext uri="{FF2B5EF4-FFF2-40B4-BE49-F238E27FC236}">
                <a16:creationId xmlns:a16="http://schemas.microsoft.com/office/drawing/2014/main" id="{240239DB-C70B-449C-B9FF-8963E539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452" y="2331720"/>
            <a:ext cx="310896" cy="18288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2C1646C8-8FD8-4E23-A43C-5EAA7397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452" y="2331720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130</a:t>
            </a:r>
            <a:endParaRPr sz="900"/>
          </a:p>
        </p:txBody>
      </p:sp>
      <p:sp>
        <p:nvSpPr>
          <p:cNvPr id="35" name="cap-bg">
            <a:extLst xmlns:a="http://schemas.openxmlformats.org/drawingml/2006/main">
              <a:ext uri="{FF2B5EF4-FFF2-40B4-BE49-F238E27FC236}">
                <a16:creationId xmlns:a16="http://schemas.microsoft.com/office/drawing/2014/main" id="{D43003A9-8FBB-4484-B399-03985F84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2994660"/>
            <a:ext cx="310896" cy="18288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18D98DA4-3735-41D8-BD29-9D8E896B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2994660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140</a:t>
            </a:r>
            <a:endParaRPr sz="900"/>
          </a:p>
        </p:txBody>
      </p:sp>
      <p:sp>
        <p:nvSpPr>
          <p:cNvPr id="37" name="node">
            <a:extLst xmlns:a="http://schemas.openxmlformats.org/drawingml/2006/main">
              <a:ext uri="{FF2B5EF4-FFF2-40B4-BE49-F238E27FC236}">
                <a16:creationId xmlns:a16="http://schemas.microsoft.com/office/drawing/2014/main" id="{D766F1C5-5780-48C7-B346-32D483BA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596896"/>
            <a:ext cx="749808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627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6110695-3259-4DE0-8DE6-D0C3DBAF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596896"/>
            <a:ext cx="749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Entrance</a:t>
            </a:r>
            <a:endParaRPr sz="850"/>
          </a:p>
        </p:txBody>
      </p:sp>
      <p:sp>
        <p:nvSpPr>
          <p:cNvPr id="39" name="node">
            <a:extLst xmlns:a="http://schemas.openxmlformats.org/drawingml/2006/main">
              <a:ext uri="{FF2B5EF4-FFF2-40B4-BE49-F238E27FC236}">
                <a16:creationId xmlns:a16="http://schemas.microsoft.com/office/drawing/2014/main" id="{A555F9B5-3223-42A3-AF21-8287158D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6" y="1956816"/>
            <a:ext cx="749808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627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132FC404-5F45-4E7B-80D2-23648842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6" y="1956816"/>
            <a:ext cx="749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CheckIn</a:t>
            </a:r>
            <a:endParaRPr sz="850"/>
          </a:p>
        </p:txBody>
      </p:sp>
      <p:sp>
        <p:nvSpPr>
          <p:cNvPr id="41" name="node">
            <a:extLst xmlns:a="http://schemas.openxmlformats.org/drawingml/2006/main">
              <a:ext uri="{FF2B5EF4-FFF2-40B4-BE49-F238E27FC236}">
                <a16:creationId xmlns:a16="http://schemas.microsoft.com/office/drawing/2014/main" id="{F360C4E7-9FB1-4443-9A88-4DBD92B2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6" y="3282696"/>
            <a:ext cx="749808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627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009CDCEA-8F1F-462F-A77A-6D7E6D78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6" y="3282696"/>
            <a:ext cx="749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SelfKiosk</a:t>
            </a:r>
            <a:endParaRPr sz="850"/>
          </a:p>
        </p:txBody>
      </p:sp>
      <p:sp>
        <p:nvSpPr>
          <p:cNvPr id="43" name="node">
            <a:extLst xmlns:a="http://schemas.openxmlformats.org/drawingml/2006/main">
              <a:ext uri="{FF2B5EF4-FFF2-40B4-BE49-F238E27FC236}">
                <a16:creationId xmlns:a16="http://schemas.microsoft.com/office/drawing/2014/main" id="{E2B4EC5A-13EF-493A-82F0-714B4553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2596896"/>
            <a:ext cx="749808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627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0FD8D991-AEED-4621-8A16-52382813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2596896"/>
            <a:ext cx="749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</a:t>
            </a:r>
            <a:endParaRPr sz="850"/>
          </a:p>
        </p:txBody>
      </p:sp>
      <p:sp>
        <p:nvSpPr>
          <p:cNvPr id="45" name="node">
            <a:extLst xmlns:a="http://schemas.openxmlformats.org/drawingml/2006/main">
              <a:ext uri="{FF2B5EF4-FFF2-40B4-BE49-F238E27FC236}">
                <a16:creationId xmlns:a16="http://schemas.microsoft.com/office/drawing/2014/main" id="{131C9595-F4C8-4D30-B9B7-BFD1E2CC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1956816"/>
            <a:ext cx="749808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627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01A6C20-F7B0-49E8-B7BF-C3728F22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1956816"/>
            <a:ext cx="749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Immigration</a:t>
            </a:r>
            <a:endParaRPr sz="850"/>
          </a:p>
        </p:txBody>
      </p:sp>
      <p:sp>
        <p:nvSpPr>
          <p:cNvPr id="47" name="node">
            <a:extLst xmlns:a="http://schemas.openxmlformats.org/drawingml/2006/main">
              <a:ext uri="{FF2B5EF4-FFF2-40B4-BE49-F238E27FC236}">
                <a16:creationId xmlns:a16="http://schemas.microsoft.com/office/drawing/2014/main" id="{B2029481-49FE-41BD-983A-0310FDCE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282696"/>
            <a:ext cx="896112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627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A0A6FCE9-6C67-4B48-9E67-E408DFAE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282696"/>
            <a:ext cx="8961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DomesticGates</a:t>
            </a:r>
            <a:endParaRPr sz="850"/>
          </a:p>
        </p:txBody>
      </p:sp>
      <p:sp>
        <p:nvSpPr>
          <p:cNvPr id="49" name="node">
            <a:extLst xmlns:a="http://schemas.openxmlformats.org/drawingml/2006/main">
              <a:ext uri="{FF2B5EF4-FFF2-40B4-BE49-F238E27FC236}">
                <a16:creationId xmlns:a16="http://schemas.microsoft.com/office/drawing/2014/main" id="{AEAC3151-3B43-4B32-BAF9-ED26DE66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956816"/>
            <a:ext cx="749808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627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C998CC83-5AE1-45B6-8338-31CC7C3A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956816"/>
            <a:ext cx="749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IntlGates</a:t>
            </a:r>
            <a:endParaRPr sz="850"/>
          </a:p>
        </p:txBody>
      </p:sp>
      <p:sp>
        <p:nvSpPr>
          <p:cNvPr id="51" name="node">
            <a:extLst xmlns:a="http://schemas.openxmlformats.org/drawingml/2006/main">
              <a:ext uri="{FF2B5EF4-FFF2-40B4-BE49-F238E27FC236}">
                <a16:creationId xmlns:a16="http://schemas.microsoft.com/office/drawing/2014/main" id="{2C1E4944-1114-44D0-8EF0-7BEDBECD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6" y="2596896"/>
            <a:ext cx="749808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4F8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B76EEE44-A1BC-402C-B032-B96A1564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6" y="2596896"/>
            <a:ext cx="749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Aircraft</a:t>
            </a:r>
            <a:endParaRPr sz="850"/>
          </a:p>
        </p:txBody>
      </p:sp>
      <p:sp>
        <p:nvSpPr>
          <p:cNvPr id="53" name="card">
            <a:extLst xmlns:a="http://schemas.openxmlformats.org/drawingml/2006/main">
              <a:ext uri="{FF2B5EF4-FFF2-40B4-BE49-F238E27FC236}">
                <a16:creationId xmlns:a16="http://schemas.microsoft.com/office/drawing/2014/main" id="{3D98E1C5-E888-40F5-99F2-38A9E69A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5120640" cy="594360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C2B178E3-7FD7-47CA-8D8D-C90CA959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0"/>
            <a:ext cx="4754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Max flow finds the greatest feasible transfer. A minimum cut identifies links that limit the modeled network.</a:t>
            </a:r>
            <a:endParaRPr sz="1100"/>
          </a:p>
        </p:txBody>
      </p:sp>
      <p:graphicFrame>
        <p:nvGraphicFramePr>
          <p:cNvPr id="7" name="table">
            <a:extLst xmlns:a="http://schemas.openxmlformats.org/drawingml/2006/main">
              <a:ext uri="{FF2B5EF4-FFF2-40B4-BE49-F238E27FC236}">
                <a16:creationId xmlns:a16="http://schemas.microsoft.com/office/drawing/2014/main" id="{4A7D924C-0730-4801-B7DF-141F6C7BD2FB}"/>
              </a:ext>
            </a:extLst>
          </p:cNvPr>
          <p:cNvGraphicFramePr/>
          <p:nvPr/>
        </p:nvGraphicFramePr>
        <p:xfrm>
          <a:off xmlns:a="http://schemas.openxmlformats.org/drawingml/2006/main" x="5852160" y="1325880"/>
          <a:ext xmlns:a="http://schemas.openxmlformats.org/drawingml/2006/main" cx="2743200" cy="2011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164592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  <a:endParaRPr sz="10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4F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 / purpose</a:t>
                      </a:r>
                      <a:endParaRPr sz="10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4F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Ford–Fulkerson</a:t>
                      </a:r>
                      <a:endParaRPr sz="10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Augmenting paths for max flow</a:t>
                      </a:r>
                      <a:endParaRPr sz="10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Edmonds–Karp</a:t>
                      </a:r>
                      <a:endParaRPr sz="10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E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BFS augmenting paths</a:t>
                      </a:r>
                      <a:endParaRPr sz="10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E9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Dinic</a:t>
                      </a:r>
                      <a:endParaRPr sz="10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Level graph and blocking flow</a:t>
                      </a:r>
                      <a:endParaRPr sz="10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card">
            <a:extLst xmlns:a="http://schemas.openxmlformats.org/drawingml/2006/main">
              <a:ext uri="{FF2B5EF4-FFF2-40B4-BE49-F238E27FC236}">
                <a16:creationId xmlns:a16="http://schemas.microsoft.com/office/drawing/2014/main" id="{B85E5FE8-37B3-4E86-BA55-363A26EE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520440"/>
            <a:ext cx="2743200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6D6"/>
          </a:solidFill>
          <a:ln xmlns:a="http://schemas.openxmlformats.org/drawingml/2006/main" w="12700">
            <a:solidFill>
              <a:srgbClr val="FFF6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57" name="icon-circle">
            <a:extLst xmlns:a="http://schemas.openxmlformats.org/drawingml/2006/main">
              <a:ext uri="{FF2B5EF4-FFF2-40B4-BE49-F238E27FC236}">
                <a16:creationId xmlns:a16="http://schemas.microsoft.com/office/drawing/2014/main" id="{312798C4-4E04-4274-B90F-AAE8F49B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6393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00"/>
          </a:solidFill>
          <a:ln xmlns:a="http://schemas.openxmlformats.org/drawingml/2006/main" w="12700">
            <a:solidFill>
              <a:srgbClr val="FFB400"/>
            </a:solidFill>
            <a:prstDash val="solid"/>
          </a:ln>
        </p:spPr>
      </p:sp>
      <p:pic>
        <p:nvPicPr>
          <p:cNvPr id="58" name="Image 0">
            <a:extLst xmlns:a="http://schemas.openxmlformats.org/drawingml/2006/main">
              <a:ext uri="{FF2B5EF4-FFF2-40B4-BE49-F238E27FC236}">
                <a16:creationId xmlns:a16="http://schemas.microsoft.com/office/drawing/2014/main" id="{37839D5F-F2BD-4F2C-8F3B-246A7E109D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0e4c6fbe74b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85332" y="3735324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59" name="Text 54">
            <a:extLst xmlns:a="http://schemas.openxmlformats.org/drawingml/2006/main">
              <a:ext uri="{FF2B5EF4-FFF2-40B4-BE49-F238E27FC236}">
                <a16:creationId xmlns:a16="http://schemas.microsoft.com/office/drawing/2014/main" id="{1FD3A29B-562E-48E8-9AEC-02FDDA2B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069080"/>
            <a:ext cx="2514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277 nodes / 3,047 edges: FF 100.09 ms; EK 116.58 ms; Dinic 6.14 ms (≈16–19× faster).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45774639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3b7a82d8d214c2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FDB31F-BFE2-4D8D-98DB-78B5F25A2FD6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Module 4 · Flow &amp; team matching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2E8B87D-0C73-4B92-8D11-C46ADD0C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Matching, covers and cuts</a:t>
            </a:r>
            <a:endParaRPr sz="1400"/>
          </a:p>
        </p:txBody>
      </p:sp>
      <p:sp>
        <p:nvSpPr>
          <p:cNvPr id="4" name="module-badge">
            <a:extLst xmlns:a="http://schemas.openxmlformats.org/drawingml/2006/main">
              <a:ext uri="{FF2B5EF4-FFF2-40B4-BE49-F238E27FC236}">
                <a16:creationId xmlns:a16="http://schemas.microsoft.com/office/drawing/2014/main" id="{E8440F05-F86C-4378-86EC-A316DAAE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381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53F73B1-FB2D-4C79-AC4F-95547DC8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M4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D1618BB-D427-4D11-812E-ED016608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8</a:t>
            </a:r>
            <a:endParaRPr sz="1000"/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63F4D75F-0F16-4CDC-B5AC-8AA0CDCB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560320" cy="3246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8" name="icon-circle">
            <a:extLst xmlns:a="http://schemas.openxmlformats.org/drawingml/2006/main">
              <a:ext uri="{FF2B5EF4-FFF2-40B4-BE49-F238E27FC236}">
                <a16:creationId xmlns:a16="http://schemas.microsoft.com/office/drawing/2014/main" id="{76E147C2-5702-40E6-B1BF-03043573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5448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12700">
            <a:solidFill>
              <a:srgbClr val="FF4F81"/>
            </a:solidFill>
            <a:prstDash val="solid"/>
          </a:ln>
        </p:spPr>
      </p:sp>
      <p:pic>
        <p:nvPicPr>
          <p:cNvPr id="9" name="Image 0">
            <a:extLst xmlns:a="http://schemas.openxmlformats.org/drawingml/2006/main">
              <a:ext uri="{FF2B5EF4-FFF2-40B4-BE49-F238E27FC236}">
                <a16:creationId xmlns:a16="http://schemas.microsoft.com/office/drawing/2014/main" id="{27119C5E-1674-40EA-BE63-B89BD5ADC4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ceda435ae41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970" y="172593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D7287F1-7A62-4633-893A-61DEC02F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Bipartite matching · Kuhn O(VE)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33862A5-31CE-4B10-9BEB-108D7AB7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219456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20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How: </a:t>
            </a:r>
            <a:r>
              <a:rPr sz="1200">
                <a:solidFill>
                  <a:srgbClr val="26275A"/>
                </a:solidFill>
                <a:latin typeface="Arial"/>
                <a:ea typeface="Arial"/>
                <a:cs typeface="Arial"/>
              </a:rPr>
              <a:t>Augmenting paths in a flights ↔ gates graph.</a:t>
            </a:r>
            <a:endParaRPr sz="120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20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Why: </a:t>
            </a:r>
            <a:r>
              <a:rPr sz="1200">
                <a:solidFill>
                  <a:srgbClr val="26275A"/>
                </a:solidFill>
                <a:latin typeface="Arial"/>
                <a:ea typeface="Arial"/>
                <a:cs typeface="Arial"/>
              </a:rPr>
              <a:t>A flight fits a gate only if gate size ≥ flight size (S, M, L); matching assigns as many flights as possible.</a:t>
            </a:r>
            <a:endParaRPr sz="1200"/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B3EC19E8-876D-44E8-B78E-2D61DBFD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371600"/>
            <a:ext cx="2560320" cy="3246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3" name="icon-circle">
            <a:extLst xmlns:a="http://schemas.openxmlformats.org/drawingml/2006/main">
              <a:ext uri="{FF2B5EF4-FFF2-40B4-BE49-F238E27FC236}">
                <a16:creationId xmlns:a16="http://schemas.microsoft.com/office/drawing/2014/main" id="{8D6C83C5-A69D-46C5-92A9-DD7EFAC9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55448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DF6"/>
          </a:solidFill>
          <a:ln xmlns:a="http://schemas.openxmlformats.org/drawingml/2006/main" w="12700">
            <a:solidFill>
              <a:srgbClr val="6C4DF6"/>
            </a:solidFill>
            <a:prstDash val="solid"/>
          </a:ln>
        </p:spPr>
      </p:sp>
      <p:pic>
        <p:nvPicPr>
          <p:cNvPr id="14" name="Image 1">
            <a:extLst xmlns:a="http://schemas.openxmlformats.org/drawingml/2006/main">
              <a:ext uri="{FF2B5EF4-FFF2-40B4-BE49-F238E27FC236}">
                <a16:creationId xmlns:a16="http://schemas.microsoft.com/office/drawing/2014/main" id="{651CC429-13CD-4C38-BD67-0B4B903187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565651ef944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46170" y="172593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3382835-A372-4E08-8560-CB68E820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7744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König's theorem</a:t>
            </a:r>
            <a:endParaRPr sz="15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B1FA7D6-BEE5-4489-A890-5D5762B1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219456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20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How: </a:t>
            </a:r>
            <a:r>
              <a:rPr sz="1200">
                <a:solidFill>
                  <a:srgbClr val="26275A"/>
                </a:solidFill>
                <a:latin typeface="Arial"/>
                <a:ea typeface="Arial"/>
                <a:cs typeface="Arial"/>
              </a:rPr>
              <a:t>In a bipartite graph, min vertex cover equals max matching.</a:t>
            </a:r>
            <a:endParaRPr sz="120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20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Why: </a:t>
            </a:r>
            <a:r>
              <a:rPr sz="1200">
                <a:solidFill>
                  <a:srgbClr val="26275A"/>
                </a:solidFill>
                <a:latin typeface="Arial"/>
                <a:ea typeface="Arial"/>
                <a:cs typeface="Arial"/>
              </a:rPr>
              <a:t>Gives the smallest set of flights or gates touching every conflict; checked on 150 random graphs.</a:t>
            </a:r>
            <a:endParaRPr sz="1200"/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EDCC894A-07A8-4E0A-841C-7A7BE034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2560320" cy="3246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8" name="icon-circle">
            <a:extLst xmlns:a="http://schemas.openxmlformats.org/drawingml/2006/main">
              <a:ext uri="{FF2B5EF4-FFF2-40B4-BE49-F238E27FC236}">
                <a16:creationId xmlns:a16="http://schemas.microsoft.com/office/drawing/2014/main" id="{C26BE877-BC7D-49E1-914B-E313AB3A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5448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9A"/>
          </a:solidFill>
          <a:ln xmlns:a="http://schemas.openxmlformats.org/drawingml/2006/main" w="12700">
            <a:solidFill>
              <a:srgbClr val="00A39A"/>
            </a:solidFill>
            <a:prstDash val="solid"/>
          </a:ln>
        </p:spPr>
      </p:sp>
      <p:pic>
        <p:nvPicPr>
          <p:cNvPr id="19" name="Image 2">
            <a:extLst xmlns:a="http://schemas.openxmlformats.org/drawingml/2006/main">
              <a:ext uri="{FF2B5EF4-FFF2-40B4-BE49-F238E27FC236}">
                <a16:creationId xmlns:a16="http://schemas.microsoft.com/office/drawing/2014/main" id="{85EA08F9-880D-437E-BAB3-DE4B6CAA97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c0c81786749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9370" y="172593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8A9EFD8-1237-411C-B3CC-BAD6BA7C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37744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A39A"/>
                </a:solidFill>
                <a:latin typeface="Arial"/>
                <a:ea typeface="Arial"/>
                <a:cs typeface="Arial"/>
              </a:rPr>
              <a:t>Min-cut = max-flow</a:t>
            </a:r>
            <a:endParaRPr sz="15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670C5C4-E9F5-42C9-B46C-38C6E457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971800"/>
            <a:ext cx="219456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200" b="1">
                <a:solidFill>
                  <a:srgbClr val="00A39A"/>
                </a:solidFill>
                <a:latin typeface="Arial"/>
                <a:ea typeface="Arial"/>
                <a:cs typeface="Arial"/>
              </a:rPr>
              <a:t>How: </a:t>
            </a:r>
            <a:r>
              <a:rPr sz="1200">
                <a:solidFill>
                  <a:srgbClr val="26275A"/>
                </a:solidFill>
                <a:latin typeface="Arial"/>
                <a:ea typeface="Arial"/>
                <a:cs typeface="Arial"/>
              </a:rPr>
              <a:t>Cheapest set of links whose removal stops all flow.</a:t>
            </a:r>
            <a:endParaRPr sz="120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200" b="1">
                <a:solidFill>
                  <a:srgbClr val="00A39A"/>
                </a:solidFill>
                <a:latin typeface="Arial"/>
                <a:ea typeface="Arial"/>
                <a:cs typeface="Arial"/>
              </a:rPr>
              <a:t>Why: </a:t>
            </a:r>
            <a:r>
              <a:rPr sz="1200">
                <a:solidFill>
                  <a:srgbClr val="26275A"/>
                </a:solidFill>
                <a:latin typeface="Arial"/>
                <a:ea typeface="Arial"/>
                <a:cs typeface="Arial"/>
              </a:rPr>
              <a:t>Names the critical connections in the passenger network.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93125123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8712d7f0875455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5C94C26-8C76-4598-9817-294C102CB895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Module 5 · Hard constraints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B85F2D-A319-492E-89B0-6AAC9264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Explore satisfiability, graph reductions and approximation</a:t>
            </a:r>
            <a:endParaRPr sz="1400"/>
          </a:p>
        </p:txBody>
      </p:sp>
      <p:sp>
        <p:nvSpPr>
          <p:cNvPr id="4" name="module-badge">
            <a:extLst xmlns:a="http://schemas.openxmlformats.org/drawingml/2006/main">
              <a:ext uri="{FF2B5EF4-FFF2-40B4-BE49-F238E27FC236}">
                <a16:creationId xmlns:a16="http://schemas.microsoft.com/office/drawing/2014/main" id="{096F69A3-5784-43F1-BD84-452DBF38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DF6"/>
          </a:solidFill>
          <a:ln xmlns:a="http://schemas.openxmlformats.org/drawingml/2006/main" w="381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11EFD64-3978-429D-AD67-24AC1CDB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M5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1EE538-DFC5-4156-91AF-AE503BE6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9</a:t>
            </a:r>
            <a:endParaRPr sz="1000"/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0EF2D8ED-A295-4B2C-87F5-AD23A28F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371600" cy="210312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9" name="step">
            <a:extLst xmlns:a="http://schemas.openxmlformats.org/drawingml/2006/main">
              <a:ext uri="{FF2B5EF4-FFF2-40B4-BE49-F238E27FC236}">
                <a16:creationId xmlns:a16="http://schemas.microsoft.com/office/drawing/2014/main" id="{AFBB1802-04BA-416E-B026-2C6280A1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118872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4F81"/>
          </a:solidFill>
          <a:ln xmlns:a="http://schemas.openxmlformats.org/drawingml/2006/main" w="12700">
            <a:solidFill>
              <a:srgbClr val="FF4F81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BCFA420-B168-4275-8D28-AF20D78F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11887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3-SAT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5DD36AC-942C-4E8B-AFFD-1F2E3C65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1188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Gate / scheduling rules as clauses</a:t>
            </a:r>
            <a:endParaRPr sz="1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F586FA0-210D-47A0-9232-5B6FD833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645920"/>
            <a:ext cx="2377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D5863EBA-4965-4B7B-9EC8-E28C3783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24" y="1417320"/>
            <a:ext cx="1371600" cy="210312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4" name="step">
            <a:extLst xmlns:a="http://schemas.openxmlformats.org/drawingml/2006/main">
              <a:ext uri="{FF2B5EF4-FFF2-40B4-BE49-F238E27FC236}">
                <a16:creationId xmlns:a16="http://schemas.microsoft.com/office/drawing/2014/main" id="{AC82B3B0-E64E-4ED3-95D2-B0975C5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508760"/>
            <a:ext cx="118872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39A"/>
          </a:solidFill>
          <a:ln xmlns:a="http://schemas.openxmlformats.org/drawingml/2006/main" w="12700">
            <a:solidFill>
              <a:srgbClr val="00A39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4A0297B-0A51-4A46-B172-07B1C8AE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508760"/>
            <a:ext cx="11887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CLIQUE</a:t>
            </a:r>
            <a:endParaRPr sz="1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5616A50-2296-4176-A263-D4DA4CBD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2331720"/>
            <a:ext cx="1188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Satisfiable ⇔ clique of size k = #clauses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A55E1AE-4FB9-47B6-9624-B9ECA37D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24" y="1645920"/>
            <a:ext cx="2377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2720071C-540D-41F3-994E-1AAB25B7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1417320"/>
            <a:ext cx="1371600" cy="210312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9" name="step">
            <a:extLst xmlns:a="http://schemas.openxmlformats.org/drawingml/2006/main">
              <a:ext uri="{FF2B5EF4-FFF2-40B4-BE49-F238E27FC236}">
                <a16:creationId xmlns:a16="http://schemas.microsoft.com/office/drawing/2014/main" id="{B5915BFD-7C51-417D-B5E0-7258EC67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1508760"/>
            <a:ext cx="118872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C4DF6"/>
          </a:solidFill>
          <a:ln xmlns:a="http://schemas.openxmlformats.org/drawingml/2006/main" w="12700">
            <a:solidFill>
              <a:srgbClr val="6C4DF6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469CA7C-77F0-42B7-95C8-0B719D95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1508760"/>
            <a:ext cx="11887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SET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9290EBE-A729-4A31-8BD9-9BAF388D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2331720"/>
            <a:ext cx="1188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Clique in the complement graph</a:t>
            </a:r>
            <a:endParaRPr sz="1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710E9CA-45C0-43D4-A92F-751E0784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1645920"/>
            <a:ext cx="2377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E925790A-B273-4F14-A4D9-6827F59D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417320"/>
            <a:ext cx="1371600" cy="210312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24" name="step">
            <a:extLst xmlns:a="http://schemas.openxmlformats.org/drawingml/2006/main">
              <a:ext uri="{FF2B5EF4-FFF2-40B4-BE49-F238E27FC236}">
                <a16:creationId xmlns:a16="http://schemas.microsoft.com/office/drawing/2014/main" id="{C9273E86-9FBE-4CE4-B4C9-E4C9551B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1508760"/>
            <a:ext cx="118872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B400"/>
          </a:solidFill>
          <a:ln xmlns:a="http://schemas.openxmlformats.org/drawingml/2006/main" w="12700">
            <a:solidFill>
              <a:srgbClr val="FFB40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DB4FDE37-41E4-4977-A023-FBC1F7CF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1508760"/>
            <a:ext cx="11887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VERTEX COVER</a:t>
            </a:r>
            <a:endParaRPr sz="11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9184FD5-6EAE-4794-9373-9AC14844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2331720"/>
            <a:ext cx="1188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V ∖ independent set</a:t>
            </a:r>
            <a:endParaRPr sz="11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BB2F092-0C8B-47C6-9EE6-BCE8CDA3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645920"/>
            <a:ext cx="2377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14A4204A-DB6F-4281-B75C-A3D6CAF4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1417320"/>
            <a:ext cx="1371600" cy="210312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29" name="step">
            <a:extLst xmlns:a="http://schemas.openxmlformats.org/drawingml/2006/main">
              <a:ext uri="{FF2B5EF4-FFF2-40B4-BE49-F238E27FC236}">
                <a16:creationId xmlns:a16="http://schemas.microsoft.com/office/drawing/2014/main" id="{12A59DFA-585B-4A08-8544-72CD9606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508760"/>
            <a:ext cx="118872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8EF0"/>
          </a:solidFill>
          <a:ln xmlns:a="http://schemas.openxmlformats.org/drawingml/2006/main" w="12700">
            <a:solidFill>
              <a:srgbClr val="1E8EF0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432A372-B157-4B58-A420-43959B09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508760"/>
            <a:ext cx="11887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2-APPROX</a:t>
            </a:r>
            <a:endParaRPr sz="11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5CDEBC5-A1B6-4C2A-887B-C5EBCEAD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2331720"/>
            <a:ext cx="1188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Maximal matching; both endpoints</a:t>
            </a:r>
            <a:endParaRPr sz="1100"/>
          </a:p>
        </p:txBody>
      </p:sp>
      <p:sp>
        <p:nvSpPr>
          <p:cNvPr id="32" name="card">
            <a:extLst xmlns:a="http://schemas.openxmlformats.org/drawingml/2006/main">
              <a:ext uri="{FF2B5EF4-FFF2-40B4-BE49-F238E27FC236}">
                <a16:creationId xmlns:a16="http://schemas.microsoft.com/office/drawing/2014/main" id="{7E468A8A-9BF3-4ED1-A966-43D867AA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7863840" cy="9144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33" name="icon-circle">
            <a:extLst xmlns:a="http://schemas.openxmlformats.org/drawingml/2006/main">
              <a:ext uri="{FF2B5EF4-FFF2-40B4-BE49-F238E27FC236}">
                <a16:creationId xmlns:a16="http://schemas.microsoft.com/office/drawing/2014/main" id="{86D37063-9A45-4105-B364-99CAE726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9A"/>
          </a:solidFill>
          <a:ln xmlns:a="http://schemas.openxmlformats.org/drawingml/2006/main" w="12700">
            <a:solidFill>
              <a:srgbClr val="00A39A"/>
            </a:solidFill>
            <a:prstDash val="solid"/>
          </a:ln>
        </p:spPr>
      </p:sp>
      <p:pic>
        <p:nvPicPr>
          <p:cNvPr id="34" name="Image 0">
            <a:extLst xmlns:a="http://schemas.openxmlformats.org/drawingml/2006/main">
              <a:ext uri="{FF2B5EF4-FFF2-40B4-BE49-F238E27FC236}">
                <a16:creationId xmlns:a16="http://schemas.microsoft.com/office/drawing/2014/main" id="{539D7D81-BFE0-474F-A410-42E7D6302E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9da42c8df41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" y="40690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AD943055-E728-40ED-938C-00E06D71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840480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A39A"/>
                </a:solidFill>
                <a:latin typeface="Arial"/>
                <a:ea typeface="Arial"/>
                <a:cs typeface="Arial"/>
              </a:rPr>
              <a:t>Implemented scope</a:t>
            </a:r>
            <a:endParaRPr sz="14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E3C2A722-B7A9-4A88-B087-5AD13FBE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133088"/>
            <a:ext cx="6766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6275A"/>
                </a:solidFill>
                <a:latin typeface="Arial"/>
                <a:ea typeface="Arial"/>
                <a:cs typeface="Arial"/>
              </a:rPr>
              <a:t>The project includes brute-force SAT, 3-SAT-to-CLIQUE, independent-set and vertex-cover routines, and a 2-approximation. It does not claim DPLL.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502425273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fa6028ee1294c4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7A3867-0EC3-4695-A370-045A2B734145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Module 5 · Hard constraints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2395F4-5557-46D0-A9BD-AB74CBDB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Brute force, reductions and approximation</a:t>
            </a:r>
            <a:endParaRPr sz="1400"/>
          </a:p>
        </p:txBody>
      </p:sp>
      <p:sp>
        <p:nvSpPr>
          <p:cNvPr id="4" name="module-badge">
            <a:extLst xmlns:a="http://schemas.openxmlformats.org/drawingml/2006/main">
              <a:ext uri="{FF2B5EF4-FFF2-40B4-BE49-F238E27FC236}">
                <a16:creationId xmlns:a16="http://schemas.microsoft.com/office/drawing/2014/main" id="{0C8B0D07-4D02-4D71-8FE9-0070F2C2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DF6"/>
          </a:solidFill>
          <a:ln xmlns:a="http://schemas.openxmlformats.org/drawingml/2006/main" w="381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D05D350-639E-4547-B9A0-00EC187E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M5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A69F2C-EF57-4F9B-B049-2CEFB618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10</a:t>
            </a:r>
            <a:endParaRPr sz="1000"/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B73AB430-1F23-408F-BD19-03D8CD2B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560320" cy="3246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8" name="icon-circle">
            <a:extLst xmlns:a="http://schemas.openxmlformats.org/drawingml/2006/main">
              <a:ext uri="{FF2B5EF4-FFF2-40B4-BE49-F238E27FC236}">
                <a16:creationId xmlns:a16="http://schemas.microsoft.com/office/drawing/2014/main" id="{E6112819-511D-4220-BCB7-DDB1CABF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12700">
            <a:solidFill>
              <a:srgbClr val="FF4F81"/>
            </a:solidFill>
            <a:prstDash val="solid"/>
          </a:ln>
        </p:spPr>
      </p:sp>
      <p:pic>
        <p:nvPicPr>
          <p:cNvPr id="9" name="Image 0">
            <a:extLst xmlns:a="http://schemas.openxmlformats.org/drawingml/2006/main">
              <a:ext uri="{FF2B5EF4-FFF2-40B4-BE49-F238E27FC236}">
                <a16:creationId xmlns:a16="http://schemas.microsoft.com/office/drawing/2014/main" id="{3D81C8C0-9810-4935-AD95-7FE41CC5AB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58678e000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" y="165735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4BFD24F-54A0-481C-8758-4F6058AE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SAT / 3-SAT · brute force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95B6567-68F1-45AC-A280-FA08C6F5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97480"/>
            <a:ext cx="219456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Enumerate assignments for small formulas to demonstrate satisfiability and exhaustive-search growth.</a:t>
            </a:r>
            <a:endParaRPr sz="1100"/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52AF6D80-655F-4C39-9F40-D76BA148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371600"/>
            <a:ext cx="2560320" cy="3246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3" name="icon-circle">
            <a:extLst xmlns:a="http://schemas.openxmlformats.org/drawingml/2006/main">
              <a:ext uri="{FF2B5EF4-FFF2-40B4-BE49-F238E27FC236}">
                <a16:creationId xmlns:a16="http://schemas.microsoft.com/office/drawing/2014/main" id="{02BDB75E-E3C6-4B5B-8175-F01AEFBD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50876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F0"/>
          </a:solidFill>
          <a:ln xmlns:a="http://schemas.openxmlformats.org/drawingml/2006/main" w="12700">
            <a:solidFill>
              <a:srgbClr val="1E8EF0"/>
            </a:solidFill>
            <a:prstDash val="solid"/>
          </a:ln>
        </p:spPr>
      </p:sp>
      <p:pic>
        <p:nvPicPr>
          <p:cNvPr id="14" name="Image 1">
            <a:extLst xmlns:a="http://schemas.openxmlformats.org/drawingml/2006/main">
              <a:ext uri="{FF2B5EF4-FFF2-40B4-BE49-F238E27FC236}">
                <a16:creationId xmlns:a16="http://schemas.microsoft.com/office/drawing/2014/main" id="{A6358434-ECF6-45CF-9CED-94035B56D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4fd9171634d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23310" y="165735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50A0240-33F6-42A9-94D0-03F0446A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1945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8EF0"/>
                </a:solidFill>
                <a:latin typeface="Arial"/>
                <a:ea typeface="Arial"/>
                <a:cs typeface="Arial"/>
              </a:rPr>
              <a:t>Reductions   CLIQUE · IS · VC</a:t>
            </a:r>
            <a:endParaRPr sz="13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5DD06AF-1F91-42FF-8B36-43E533D9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697480"/>
            <a:ext cx="219456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00" b="1">
                <a:solidFill>
                  <a:srgbClr val="1E8EF0"/>
                </a:solidFill>
                <a:latin typeface="Arial"/>
                <a:ea typeface="Arial"/>
                <a:cs typeface="Arial"/>
              </a:rPr>
              <a:t>How: </a:t>
            </a: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Transform one problem into another in polynomial time.</a:t>
            </a:r>
            <a:endParaRPr sz="110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00" b="1">
                <a:solidFill>
                  <a:srgbClr val="1E8EF0"/>
                </a:solidFill>
                <a:latin typeface="Arial"/>
                <a:ea typeface="Arial"/>
                <a:cs typeface="Arial"/>
              </a:rPr>
              <a:t>Why: </a:t>
            </a: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Models operational conflicts as graphs: a conflict-free set of flights is an independent set; a set covering all conflicts is a vertex cover.</a:t>
            </a:r>
            <a:endParaRPr sz="1100"/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3DD59055-895E-4622-B27D-8C64654B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2560320" cy="3246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8" name="icon-circle">
            <a:extLst xmlns:a="http://schemas.openxmlformats.org/drawingml/2006/main">
              <a:ext uri="{FF2B5EF4-FFF2-40B4-BE49-F238E27FC236}">
                <a16:creationId xmlns:a16="http://schemas.microsoft.com/office/drawing/2014/main" id="{D3C5C22B-A072-4A6E-A8B6-8ACC785A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0876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9A"/>
          </a:solidFill>
          <a:ln xmlns:a="http://schemas.openxmlformats.org/drawingml/2006/main" w="12700">
            <a:solidFill>
              <a:srgbClr val="00A39A"/>
            </a:solidFill>
            <a:prstDash val="solid"/>
          </a:ln>
        </p:spPr>
      </p:sp>
      <p:pic>
        <p:nvPicPr>
          <p:cNvPr id="19" name="Image 2">
            <a:extLst xmlns:a="http://schemas.openxmlformats.org/drawingml/2006/main">
              <a:ext uri="{FF2B5EF4-FFF2-40B4-BE49-F238E27FC236}">
                <a16:creationId xmlns:a16="http://schemas.microsoft.com/office/drawing/2014/main" id="{E4731AE3-3FEC-4D11-B5C5-1EBF830C7C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08eca00c246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6510" y="165735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7F5CBBA-4937-4E9B-B917-613D8A77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1945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857D"/>
                </a:solidFill>
                <a:latin typeface="Arial"/>
                <a:ea typeface="Arial"/>
                <a:cs typeface="Arial"/>
              </a:rPr>
              <a:t>Vertex-cover 2-approximation</a:t>
            </a:r>
            <a:endParaRPr sz="13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E04081B7-679A-4F2C-894E-5562E650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97480"/>
            <a:ext cx="219456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fast, |C| ≤ 2·OPT</a:t>
            </a:r>
            <a:endParaRPr sz="110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00" b="1">
                <a:solidFill>
                  <a:srgbClr val="00857D"/>
                </a:solidFill>
                <a:latin typeface="Arial"/>
                <a:ea typeface="Arial"/>
                <a:cs typeface="Arial"/>
              </a:rPr>
              <a:t>How: </a:t>
            </a: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Pick an uncovered edge, take both endpoints, repeat (maximal matching).</a:t>
            </a:r>
            <a:endParaRPr sz="110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00" b="1">
                <a:solidFill>
                  <a:srgbClr val="00857D"/>
                </a:solidFill>
                <a:latin typeface="Arial"/>
                <a:ea typeface="Arial"/>
                <a:cs typeface="Arial"/>
              </a:rPr>
              <a:t>Why: </a:t>
            </a: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Covers critical connections quickly with a guaranteed bound: matching edges are disjoint, and any cover needs one endpoint of each.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70044753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ea1e4bc46df467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D479CA-7D6B-4FC5-81F7-EA217CB79D26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Module 6 · Randomized &amp; parallel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F6286E0-DDFF-4DF5-9CDD-65127F57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Use sampling, probabilistic checks and parallel data operations</a:t>
            </a:r>
            <a:endParaRPr sz="1400"/>
          </a:p>
        </p:txBody>
      </p:sp>
      <p:sp>
        <p:nvSpPr>
          <p:cNvPr id="4" name="module-badge">
            <a:extLst xmlns:a="http://schemas.openxmlformats.org/drawingml/2006/main">
              <a:ext uri="{FF2B5EF4-FFF2-40B4-BE49-F238E27FC236}">
                <a16:creationId xmlns:a16="http://schemas.microsoft.com/office/drawing/2014/main" id="{458EDD93-634C-40FA-93E6-E9AFE518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00"/>
          </a:solidFill>
          <a:ln xmlns:a="http://schemas.openxmlformats.org/drawingml/2006/main" w="381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1E32FEE-A9D3-48B5-A20B-EC5D33B2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M6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3D36EDD-FE99-4AF8-BDF9-C05AB8E5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11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1551716-2C56-4DBC-8E28-4889E293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Randomized algorithms</a:t>
            </a:r>
            <a:endParaRPr sz="1600"/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5AC65E8D-FBE4-46DA-A671-0EBE6BF4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560320" cy="2971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0" name="icon-circle">
            <a:extLst xmlns:a="http://schemas.openxmlformats.org/drawingml/2006/main">
              <a:ext uri="{FF2B5EF4-FFF2-40B4-BE49-F238E27FC236}">
                <a16:creationId xmlns:a16="http://schemas.microsoft.com/office/drawing/2014/main" id="{E7886C3A-E126-47AA-BB47-4D33A73F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12700">
            <a:solidFill>
              <a:srgbClr val="FF4F81"/>
            </a:solidFill>
            <a:prstDash val="solid"/>
          </a:ln>
        </p:spPr>
      </p:sp>
      <p:pic>
        <p:nvPicPr>
          <p:cNvPr id="11" name="Image 0">
            <a:extLst xmlns:a="http://schemas.openxmlformats.org/drawingml/2006/main">
              <a:ext uri="{FF2B5EF4-FFF2-40B4-BE49-F238E27FC236}">
                <a16:creationId xmlns:a16="http://schemas.microsoft.com/office/drawing/2014/main" id="{9ACD24CE-61B1-4C48-9A4F-110034BCE3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a792c433045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" y="1977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9D033F8-3EC4-4782-9326-ED97AFE7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Randomized QuickSort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72F2DE0-492E-4231-BA5E-082D606C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expected O(n log n)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123875F-851A-4D2D-B1B8-F4025D38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0"/>
            <a:ext cx="219456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26275A"/>
                </a:solidFill>
                <a:latin typeface="Arial"/>
                <a:ea typeface="Arial"/>
                <a:cs typeface="Arial"/>
              </a:rPr>
              <a:t>7,998,000 → 51,876 comparisons on already-sorted input (n = 4,000).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Why: </a:t>
            </a:r>
            <a:r>
              <a:rPr sz="1150">
                <a:solidFill>
                  <a:srgbClr val="26275A"/>
                </a:solidFill>
                <a:latin typeface="Arial"/>
                <a:ea typeface="Arial"/>
                <a:cs typeface="Arial"/>
              </a:rPr>
              <a:t>Random pivots defeat pre-sorted or adversarial flight records when ranking.</a:t>
            </a:r>
            <a:endParaRPr sz="1150"/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A6DA8C95-F355-499D-9013-626A9A43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560320" cy="2971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6" name="icon-circle">
            <a:extLst xmlns:a="http://schemas.openxmlformats.org/drawingml/2006/main">
              <a:ext uri="{FF2B5EF4-FFF2-40B4-BE49-F238E27FC236}">
                <a16:creationId xmlns:a16="http://schemas.microsoft.com/office/drawing/2014/main" id="{74B3DB53-248B-48E2-AD7C-B4C30D70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28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F0"/>
          </a:solidFill>
          <a:ln xmlns:a="http://schemas.openxmlformats.org/drawingml/2006/main" w="12700">
            <a:solidFill>
              <a:srgbClr val="1E8EF0"/>
            </a:solidFill>
            <a:prstDash val="solid"/>
          </a:ln>
        </p:spPr>
      </p:sp>
      <p:pic>
        <p:nvPicPr>
          <p:cNvPr id="17" name="Image 1">
            <a:extLst xmlns:a="http://schemas.openxmlformats.org/drawingml/2006/main">
              <a:ext uri="{FF2B5EF4-FFF2-40B4-BE49-F238E27FC236}">
                <a16:creationId xmlns:a16="http://schemas.microsoft.com/office/drawing/2014/main" id="{31092F29-2BA6-43CB-95A3-8139D87BF0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dcc74e26d4e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23310" y="1977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24EACD0B-9859-440B-8F47-3B0FB709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5146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8EF0"/>
                </a:solidFill>
                <a:latin typeface="Arial"/>
                <a:ea typeface="Arial"/>
                <a:cs typeface="Arial"/>
              </a:rPr>
              <a:t>Reservoir sampling</a:t>
            </a:r>
            <a:endParaRPr sz="14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CEAE7C49-E55F-4850-BC4D-9E232BBB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788920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O(k) memory</a:t>
            </a:r>
            <a:endParaRPr sz="110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46E8BF8-C0B4-4E26-9809-3835D460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08960"/>
            <a:ext cx="219456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26275A"/>
                </a:solidFill>
                <a:latin typeface="Arial"/>
                <a:ea typeface="Arial"/>
                <a:cs typeface="Arial"/>
              </a:rPr>
              <a:t>k / N chance each item is kept, verified uniform.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 b="1">
                <a:solidFill>
                  <a:srgbClr val="1E8EF0"/>
                </a:solidFill>
                <a:latin typeface="Arial"/>
                <a:ea typeface="Arial"/>
                <a:cs typeface="Arial"/>
              </a:rPr>
              <a:t>Why: </a:t>
            </a:r>
            <a:r>
              <a:rPr sz="1150">
                <a:solidFill>
                  <a:srgbClr val="26275A"/>
                </a:solidFill>
                <a:latin typeface="Arial"/>
                <a:ea typeface="Arial"/>
                <a:cs typeface="Arial"/>
              </a:rPr>
              <a:t>Event streams never end and cannot be stored; keep a fair sample of size k.</a:t>
            </a:r>
            <a:endParaRPr sz="1150"/>
          </a:p>
        </p:txBody>
      </p:sp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28DEF0BE-65D7-4E02-A754-AADFC741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691640"/>
            <a:ext cx="2560320" cy="2971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22" name="icon-circle">
            <a:extLst xmlns:a="http://schemas.openxmlformats.org/drawingml/2006/main">
              <a:ext uri="{FF2B5EF4-FFF2-40B4-BE49-F238E27FC236}">
                <a16:creationId xmlns:a16="http://schemas.microsoft.com/office/drawing/2014/main" id="{531BD1D8-6CE7-4608-A296-AA0CE93C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DF6"/>
          </a:solidFill>
          <a:ln xmlns:a="http://schemas.openxmlformats.org/drawingml/2006/main" w="12700">
            <a:solidFill>
              <a:srgbClr val="6C4DF6"/>
            </a:solidFill>
            <a:prstDash val="solid"/>
          </a:ln>
        </p:spPr>
      </p:sp>
      <p:pic>
        <p:nvPicPr>
          <p:cNvPr id="23" name="Image 2">
            <a:extLst xmlns:a="http://schemas.openxmlformats.org/drawingml/2006/main">
              <a:ext uri="{FF2B5EF4-FFF2-40B4-BE49-F238E27FC236}">
                <a16:creationId xmlns:a16="http://schemas.microsoft.com/office/drawing/2014/main" id="{23B8223B-5AD9-4AC5-B948-CB65544197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72d71a5f5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6510" y="1977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DEAA5ADF-5730-4455-8D86-AE8EE455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Miller-Rabin</a:t>
            </a:r>
            <a:endParaRPr sz="14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E0192F54-5954-446C-BE22-9D163943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788920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probabilistic prime test</a:t>
            </a:r>
            <a:endParaRPr sz="11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C11928B6-7BBE-48D9-ACE1-FA5D2F82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08960"/>
            <a:ext cx="219456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26275A"/>
                </a:solidFill>
                <a:latin typeface="Arial"/>
                <a:ea typeface="Arial"/>
                <a:cs typeface="Arial"/>
              </a:rPr>
              <a:t>561 (Carmichael) correctly found composite; 2⁶¹−1 prime.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Why: </a:t>
            </a:r>
            <a:r>
              <a:rPr sz="1150">
                <a:solidFill>
                  <a:srgbClr val="26275A"/>
                </a:solidFill>
                <a:latin typeface="Arial"/>
                <a:ea typeface="Arial"/>
                <a:cs typeface="Arial"/>
              </a:rPr>
              <a:t>Large-number processing where trial division is far too slow.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179491214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c88b8ab39094cc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BC6CD1B-B8A8-4867-A7DC-BE6AF75C96B3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Module 6 · Randomized &amp; parallel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30955DE-F20A-4B3E-9039-50C12E28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Use sampling, probabilistic checks and parallel data operations</a:t>
            </a:r>
            <a:endParaRPr sz="1400"/>
          </a:p>
        </p:txBody>
      </p:sp>
      <p:sp>
        <p:nvSpPr>
          <p:cNvPr id="4" name="module-badge">
            <a:extLst xmlns:a="http://schemas.openxmlformats.org/drawingml/2006/main">
              <a:ext uri="{FF2B5EF4-FFF2-40B4-BE49-F238E27FC236}">
                <a16:creationId xmlns:a16="http://schemas.microsoft.com/office/drawing/2014/main" id="{ECC47511-64E5-4C0C-93A2-3C806D12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00"/>
          </a:solidFill>
          <a:ln xmlns:a="http://schemas.openxmlformats.org/drawingml/2006/main" w="381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663F07-16DF-421D-920A-CCFBCCDA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M6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D5776F8-1EF1-4A2F-BEF4-E5AF4AF8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12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2F49AF2-087A-4BE9-98A0-E659191C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Parallel algorithms</a:t>
            </a:r>
            <a:endParaRPr sz="1600"/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7342F2A7-87CE-41F6-96C0-881C8CCA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560320" cy="2971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9" name="icon-circle">
            <a:extLst xmlns:a="http://schemas.openxmlformats.org/drawingml/2006/main">
              <a:ext uri="{FF2B5EF4-FFF2-40B4-BE49-F238E27FC236}">
                <a16:creationId xmlns:a16="http://schemas.microsoft.com/office/drawing/2014/main" id="{168989DF-FB94-459A-A743-51668B15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9A"/>
          </a:solidFill>
          <a:ln xmlns:a="http://schemas.openxmlformats.org/drawingml/2006/main" w="12700">
            <a:solidFill>
              <a:srgbClr val="00A39A"/>
            </a:solidFill>
            <a:prstDash val="solid"/>
          </a:ln>
        </p:spPr>
      </p:sp>
      <p:pic>
        <p:nvPicPr>
          <p:cNvPr id="10" name="Image 0">
            <a:extLst xmlns:a="http://schemas.openxmlformats.org/drawingml/2006/main">
              <a:ext uri="{FF2B5EF4-FFF2-40B4-BE49-F238E27FC236}">
                <a16:creationId xmlns:a16="http://schemas.microsoft.com/office/drawing/2014/main" id="{BDC2245E-17D0-4178-ABF0-357C862450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c013e11c445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" y="1977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6DE52D6-0DBB-47F5-94DD-D02DD25C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857D"/>
                </a:solidFill>
                <a:latin typeface="Arial"/>
                <a:ea typeface="Arial"/>
                <a:cs typeface="Arial"/>
              </a:rPr>
              <a:t>Blelloch scan</a:t>
            </a:r>
            <a:endParaRPr sz="1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E37796B-9ED2-4D33-B9CA-74871ABF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work O(n), span O(log n)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3E7E235-4A21-4FE3-8C73-4204E6BA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0"/>
            <a:ext cx="219456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50" b="1">
                <a:solidFill>
                  <a:srgbClr val="00857D"/>
                </a:solidFill>
                <a:latin typeface="Arial"/>
                <a:ea typeface="Arial"/>
                <a:cs typeface="Arial"/>
              </a:rPr>
              <a:t>How: </a:t>
            </a:r>
            <a:r>
              <a:rPr sz="1050">
                <a:solidFill>
                  <a:srgbClr val="26275A"/>
                </a:solidFill>
                <a:latin typeface="Arial"/>
                <a:ea typeface="Arial"/>
                <a:cs typeface="Arial"/>
              </a:rPr>
              <a:t>Parallel prefix sum: up-sweep then down-sweep.</a:t>
            </a:r>
            <a:endParaRPr sz="10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50" b="1">
                <a:solidFill>
                  <a:srgbClr val="00857D"/>
                </a:solidFill>
                <a:latin typeface="Arial"/>
                <a:ea typeface="Arial"/>
                <a:cs typeface="Arial"/>
              </a:rPr>
              <a:t>Why: </a:t>
            </a:r>
            <a:r>
              <a:rPr sz="1050">
                <a:solidFill>
                  <a:srgbClr val="26275A"/>
                </a:solidFill>
                <a:latin typeface="Arial"/>
                <a:ea typeface="Arial"/>
                <a:cs typeface="Arial"/>
              </a:rPr>
              <a:t>Cumulative passenger counts in O(log n) parallel steps.</a:t>
            </a:r>
            <a:endParaRPr sz="10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50">
                <a:solidFill>
                  <a:srgbClr val="26275A"/>
                </a:solidFill>
                <a:latin typeface="Arial"/>
                <a:ea typeface="Arial"/>
                <a:cs typeface="Arial"/>
              </a:rPr>
              <a:t>Work = 2(n−1); span = 2·log₂ n. More processors help only until span D dominates.</a:t>
            </a:r>
            <a:endParaRPr sz="1050"/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93C80476-3CEA-4882-A5D8-EBA27805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560320" cy="2971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5" name="icon-circle">
            <a:extLst xmlns:a="http://schemas.openxmlformats.org/drawingml/2006/main">
              <a:ext uri="{FF2B5EF4-FFF2-40B4-BE49-F238E27FC236}">
                <a16:creationId xmlns:a16="http://schemas.microsoft.com/office/drawing/2014/main" id="{E55ADFF5-C158-481C-800C-72AFD9D9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28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12700">
            <a:solidFill>
              <a:srgbClr val="FF4F81"/>
            </a:solidFill>
            <a:prstDash val="solid"/>
          </a:ln>
        </p:spPr>
      </p:sp>
      <p:pic>
        <p:nvPicPr>
          <p:cNvPr id="16" name="Image 1">
            <a:extLst xmlns:a="http://schemas.openxmlformats.org/drawingml/2006/main">
              <a:ext uri="{FF2B5EF4-FFF2-40B4-BE49-F238E27FC236}">
                <a16:creationId xmlns:a16="http://schemas.microsoft.com/office/drawing/2014/main" id="{0D0E004D-723C-4F6A-867F-5A11682DB8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84de112ba46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23310" y="1977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CBBFDD6-20BD-402B-8132-09D33E5C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5146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Parallel reduce</a:t>
            </a:r>
            <a:endParaRPr sz="14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51A244AF-B21E-41A8-A13C-C7F41C50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788920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pool · fork/join · tree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3FC9E1AE-C4AC-498B-AE6B-F1A18A4D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08960"/>
            <a:ext cx="219456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5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How: </a:t>
            </a:r>
            <a:r>
              <a:rPr sz="1050">
                <a:solidFill>
                  <a:srgbClr val="26275A"/>
                </a:solidFill>
                <a:latin typeface="Arial"/>
                <a:ea typeface="Arial"/>
                <a:cs typeface="Arial"/>
              </a:rPr>
              <a:t>Split the data, combine partial results.</a:t>
            </a:r>
            <a:endParaRPr sz="10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50" b="1">
                <a:solidFill>
                  <a:srgbClr val="FF4F81"/>
                </a:solidFill>
                <a:latin typeface="Arial"/>
                <a:ea typeface="Arial"/>
                <a:cs typeface="Arial"/>
              </a:rPr>
              <a:t>Why: </a:t>
            </a:r>
            <a:r>
              <a:rPr sz="1050">
                <a:solidFill>
                  <a:srgbClr val="26275A"/>
                </a:solidFill>
                <a:latin typeface="Arial"/>
                <a:ea typeface="Arial"/>
                <a:cs typeface="Arial"/>
              </a:rPr>
              <a:t>Transport statistics over big data (50M-element sum tested).</a:t>
            </a:r>
            <a:endParaRPr sz="1050"/>
          </a:p>
        </p:txBody>
      </p:sp>
      <p:sp>
        <p:nvSpPr>
          <p:cNvPr id="20" name="card">
            <a:extLst xmlns:a="http://schemas.openxmlformats.org/drawingml/2006/main">
              <a:ext uri="{FF2B5EF4-FFF2-40B4-BE49-F238E27FC236}">
                <a16:creationId xmlns:a16="http://schemas.microsoft.com/office/drawing/2014/main" id="{3C90912B-3753-4632-80E5-B7C501B4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691640"/>
            <a:ext cx="2560320" cy="2971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21" name="icon-circle">
            <a:extLst xmlns:a="http://schemas.openxmlformats.org/drawingml/2006/main">
              <a:ext uri="{FF2B5EF4-FFF2-40B4-BE49-F238E27FC236}">
                <a16:creationId xmlns:a16="http://schemas.microsoft.com/office/drawing/2014/main" id="{A7A520DF-B2DF-4292-8E81-67E6EA9A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DF6"/>
          </a:solidFill>
          <a:ln xmlns:a="http://schemas.openxmlformats.org/drawingml/2006/main" w="12700">
            <a:solidFill>
              <a:srgbClr val="6C4DF6"/>
            </a:solidFill>
            <a:prstDash val="solid"/>
          </a:ln>
        </p:spPr>
      </p:sp>
      <p:pic>
        <p:nvPicPr>
          <p:cNvPr id="22" name="Image 2">
            <a:extLst xmlns:a="http://schemas.openxmlformats.org/drawingml/2006/main">
              <a:ext uri="{FF2B5EF4-FFF2-40B4-BE49-F238E27FC236}">
                <a16:creationId xmlns:a16="http://schemas.microsoft.com/office/drawing/2014/main" id="{EDDE985F-0F8B-4AAA-88EC-E5AA2DCBAD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2554993854b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6510" y="1977390"/>
            <a:ext cx="297180" cy="29718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5E1FB260-00D4-4B38-B588-AFDB9193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Brent's theorem</a:t>
            </a:r>
            <a:endParaRPr sz="1400"/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50157687-E8B6-4C5A-86FF-F911CDFF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788920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T_p ≤ W/p + D</a:t>
            </a:r>
            <a:endParaRPr sz="1100"/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67001F26-7B3A-4195-84A8-076981FD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08960"/>
            <a:ext cx="219456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5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How: </a:t>
            </a:r>
            <a:r>
              <a:rPr sz="1050">
                <a:solidFill>
                  <a:srgbClr val="26275A"/>
                </a:solidFill>
                <a:latin typeface="Arial"/>
                <a:ea typeface="Arial"/>
                <a:cs typeface="Arial"/>
              </a:rPr>
              <a:t>Bounds time from total work W and span D.</a:t>
            </a:r>
            <a:endParaRPr sz="10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5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Why: </a:t>
            </a:r>
            <a:r>
              <a:rPr sz="1050">
                <a:solidFill>
                  <a:srgbClr val="26275A"/>
                </a:solidFill>
                <a:latin typeface="Arial"/>
                <a:ea typeface="Arial"/>
                <a:cs typeface="Arial"/>
              </a:rPr>
              <a:t>Predicts parallel speed-up without running the code.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864142441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7fb5819ba2240f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A11C1E-AA32-44AD-A18F-23180F509083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Module 6 · Randomized &amp; parallel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B2BA0A-0998-4E6E-8DB6-E52FF45C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At a glance</a:t>
            </a:r>
            <a:endParaRPr sz="1400"/>
          </a:p>
        </p:txBody>
      </p:sp>
      <p:sp>
        <p:nvSpPr>
          <p:cNvPr id="4" name="module-badge">
            <a:extLst xmlns:a="http://schemas.openxmlformats.org/drawingml/2006/main">
              <a:ext uri="{FF2B5EF4-FFF2-40B4-BE49-F238E27FC236}">
                <a16:creationId xmlns:a16="http://schemas.microsoft.com/office/drawing/2014/main" id="{B06E3E40-0023-435D-A5AF-C605D117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00"/>
          </a:solidFill>
          <a:ln xmlns:a="http://schemas.openxmlformats.org/drawingml/2006/main" w="381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83C1F01-D2EE-4268-8357-0CCABC76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M6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470A01-0D1C-4418-89B1-0ECDAF13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13</a:t>
            </a:r>
            <a:endParaRPr sz="1000"/>
          </a:p>
        </p:txBody>
      </p:sp>
      <p:graphicFrame>
        <p:nvGraphicFramePr>
          <p:cNvPr id="14" name="table">
            <a:extLst xmlns:a="http://schemas.openxmlformats.org/drawingml/2006/main">
              <a:ext uri="{FF2B5EF4-FFF2-40B4-BE49-F238E27FC236}">
                <a16:creationId xmlns:a16="http://schemas.microsoft.com/office/drawing/2014/main" id="{47E2973B-6D68-43C5-86FF-2DAA97A0D389}"/>
              </a:ext>
            </a:extLst>
          </p:cNvPr>
          <p:cNvGraphicFramePr/>
          <p:nvPr/>
        </p:nvGraphicFramePr>
        <p:xfrm>
          <a:off xmlns:a="http://schemas.openxmlformats.org/drawingml/2006/main" x="548640" y="1463040"/>
          <a:ext xmlns:a="http://schemas.openxmlformats.org/drawingml/2006/main" cx="8046720" cy="226771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7360"/>
                <a:gridCol w="1371600"/>
                <a:gridCol w="1371600"/>
                <a:gridCol w="1737360"/>
                <a:gridCol w="182880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Use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B4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QuickSort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Sort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Ordered list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Random pivot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Reservoir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Sample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Stream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k items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Bounded memory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6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Miller-Rabin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Primality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Integer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Probable prime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Witness rounds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icon-circle">
            <a:extLst xmlns:a="http://schemas.openxmlformats.org/drawingml/2006/main">
              <a:ext uri="{FF2B5EF4-FFF2-40B4-BE49-F238E27FC236}">
                <a16:creationId xmlns:a16="http://schemas.microsoft.com/office/drawing/2014/main" id="{2817F1A8-94BB-48D8-8E01-E0248069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977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12700">
            <a:solidFill>
              <a:srgbClr val="FF4F81"/>
            </a:solidFill>
            <a:prstDash val="solid"/>
          </a:ln>
        </p:spPr>
      </p:sp>
      <p:pic>
        <p:nvPicPr>
          <p:cNvPr id="9" name="Image 0">
            <a:extLst xmlns:a="http://schemas.openxmlformats.org/drawingml/2006/main">
              <a:ext uri="{FF2B5EF4-FFF2-40B4-BE49-F238E27FC236}">
                <a16:creationId xmlns:a16="http://schemas.microsoft.com/office/drawing/2014/main" id="{10C2F932-4ECF-4492-A3EB-D4213F7E74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70182856145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3140" y="41376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0" name="icon-circle">
            <a:extLst xmlns:a="http://schemas.openxmlformats.org/drawingml/2006/main">
              <a:ext uri="{FF2B5EF4-FFF2-40B4-BE49-F238E27FC236}">
                <a16:creationId xmlns:a16="http://schemas.microsoft.com/office/drawing/2014/main" id="{FDCB4BE3-C442-46FE-A047-17FE6999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977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F0"/>
          </a:solidFill>
          <a:ln xmlns:a="http://schemas.openxmlformats.org/drawingml/2006/main" w="12700">
            <a:solidFill>
              <a:srgbClr val="1E8EF0"/>
            </a:solidFill>
            <a:prstDash val="solid"/>
          </a:ln>
        </p:spPr>
      </p:sp>
      <p:pic>
        <p:nvPicPr>
          <p:cNvPr id="11" name="Image 1">
            <a:extLst xmlns:a="http://schemas.openxmlformats.org/drawingml/2006/main">
              <a:ext uri="{FF2B5EF4-FFF2-40B4-BE49-F238E27FC236}">
                <a16:creationId xmlns:a16="http://schemas.microsoft.com/office/drawing/2014/main" id="{F2D6245E-E9A6-49E3-BE67-C40496AF2D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2cc8412fd44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3380" y="41376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2" name="icon-circle">
            <a:extLst xmlns:a="http://schemas.openxmlformats.org/drawingml/2006/main">
              <a:ext uri="{FF2B5EF4-FFF2-40B4-BE49-F238E27FC236}">
                <a16:creationId xmlns:a16="http://schemas.microsoft.com/office/drawing/2014/main" id="{343719C0-BD14-4A3E-ACC9-17B8A148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77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DF6"/>
          </a:solidFill>
          <a:ln xmlns:a="http://schemas.openxmlformats.org/drawingml/2006/main" w="12700">
            <a:solidFill>
              <a:srgbClr val="6C4DF6"/>
            </a:solidFill>
            <a:prstDash val="solid"/>
          </a:ln>
        </p:spPr>
      </p:sp>
      <p:pic>
        <p:nvPicPr>
          <p:cNvPr id="13" name="Image 2">
            <a:extLst xmlns:a="http://schemas.openxmlformats.org/drawingml/2006/main">
              <a:ext uri="{FF2B5EF4-FFF2-40B4-BE49-F238E27FC236}">
                <a16:creationId xmlns:a16="http://schemas.microsoft.com/office/drawing/2014/main" id="{D99A0CB5-0D00-4F09-986C-A25D4A40BE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e390024fe4e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03620" y="4137660"/>
            <a:ext cx="320040" cy="320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801319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688a7d51b50410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0D3222-13EB-460E-9762-445F02398191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Implementation overview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E1DE48-00B8-46CD-BB0A-AC2C4C52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Java 17+ command-line application with connected DisasterNet menus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4954E54-5849-490B-A50E-DEBB309B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14</a:t>
            </a:r>
            <a:endParaRPr sz="1000"/>
          </a:p>
        </p:txBody>
      </p:sp>
      <p:sp>
        <p:nvSpPr>
          <p:cNvPr id="6" name="card">
            <a:extLst xmlns:a="http://schemas.openxmlformats.org/drawingml/2006/main">
              <a:ext uri="{FF2B5EF4-FFF2-40B4-BE49-F238E27FC236}">
                <a16:creationId xmlns:a16="http://schemas.microsoft.com/office/drawing/2014/main" id="{82B7BFC8-870E-466E-87DF-0A29D01A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4023360" cy="329184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graphicFrame>
        <p:nvGraphicFramePr>
          <p:cNvPr id="7" name="Chart 0">
            <a:extLst xmlns:a="http://schemas.openxmlformats.org/drawingml/2006/main">
              <a:ext uri="{FF2B5EF4-FFF2-40B4-BE49-F238E27FC236}">
                <a16:creationId xmlns:a16="http://schemas.microsoft.com/office/drawing/2014/main" id="{27573FA7-336C-49E3-A4F2-343E005CA7F9}"/>
              </a:ext>
            </a:extLst>
          </p:cNvPr>
          <p:cNvGraphicFramePr/>
          <p:nvPr/>
        </p:nvGraphicFramePr>
        <p:xfrm>
          <a:off xmlns:a="http://schemas.openxmlformats.org/drawingml/2006/main" x="640080" y="1463040"/>
          <a:ext xmlns:a="http://schemas.openxmlformats.org/drawingml/2006/main" cx="3840480" cy="31089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6feb76fc27495a"/>
          </a:graphicData>
        </a:graphic>
      </p:graphicFrame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728CE45C-43E6-4462-B170-E1CC06A2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371600"/>
            <a:ext cx="3840480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9" name="icon-circle">
            <a:extLst xmlns:a="http://schemas.openxmlformats.org/drawingml/2006/main">
              <a:ext uri="{FF2B5EF4-FFF2-40B4-BE49-F238E27FC236}">
                <a16:creationId xmlns:a16="http://schemas.microsoft.com/office/drawing/2014/main" id="{B7EF77BC-B3B5-49F8-B31A-4D678F5E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61848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12700">
            <a:solidFill>
              <a:srgbClr val="FF4F81"/>
            </a:solidFill>
            <a:prstDash val="solid"/>
          </a:ln>
        </p:spPr>
      </p:sp>
      <p:pic>
        <p:nvPicPr>
          <p:cNvPr id="10" name="Image 0">
            <a:extLst xmlns:a="http://schemas.openxmlformats.org/drawingml/2006/main">
              <a:ext uri="{FF2B5EF4-FFF2-40B4-BE49-F238E27FC236}">
                <a16:creationId xmlns:a16="http://schemas.microsoft.com/office/drawing/2014/main" id="{F8C02BAC-B463-4268-9AB4-9E21FF9ED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7c66eafb14c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0056" y="17465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D12BD5A6-ED85-433C-9C16-933751DD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444752"/>
            <a:ext cx="297180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Manage incidents, rescue teams, volunteers, shelters, resources, communications and observations.</a:t>
            </a:r>
            <a:endParaRPr sz="1100"/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114E16ED-6DEB-49DA-A004-5A35AE0F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487168"/>
            <a:ext cx="3840480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3" name="icon-circle">
            <a:extLst xmlns:a="http://schemas.openxmlformats.org/drawingml/2006/main">
              <a:ext uri="{FF2B5EF4-FFF2-40B4-BE49-F238E27FC236}">
                <a16:creationId xmlns:a16="http://schemas.microsoft.com/office/drawing/2014/main" id="{41154438-2984-4307-BAE3-7E6DC5CC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73405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9A"/>
          </a:solidFill>
          <a:ln xmlns:a="http://schemas.openxmlformats.org/drawingml/2006/main" w="12700">
            <a:solidFill>
              <a:srgbClr val="00A39A"/>
            </a:solidFill>
            <a:prstDash val="solid"/>
          </a:ln>
        </p:spPr>
      </p:sp>
      <p:pic>
        <p:nvPicPr>
          <p:cNvPr id="14" name="Image 1">
            <a:extLst xmlns:a="http://schemas.openxmlformats.org/drawingml/2006/main">
              <a:ext uri="{FF2B5EF4-FFF2-40B4-BE49-F238E27FC236}">
                <a16:creationId xmlns:a16="http://schemas.microsoft.com/office/drawing/2014/main" id="{BBC3DB8B-4AE2-4C7B-A599-D196F77756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fe3bc28d24a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0056" y="286207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A244A80A-EF08-483B-830D-D27B6A6D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560320"/>
            <a:ext cx="297180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Six modules cover string search, text indexes, dynamic programming, network flow, complexity and randomized/parallel methods.</a:t>
            </a:r>
            <a:endParaRPr sz="1100"/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20C7E0AC-654E-44DA-9838-BF73D398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02736"/>
            <a:ext cx="3840480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7" name="icon-circle">
            <a:extLst xmlns:a="http://schemas.openxmlformats.org/drawingml/2006/main">
              <a:ext uri="{FF2B5EF4-FFF2-40B4-BE49-F238E27FC236}">
                <a16:creationId xmlns:a16="http://schemas.microsoft.com/office/drawing/2014/main" id="{E6CAF609-246C-4751-B7AD-1C0CF6A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849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DF6"/>
          </a:solidFill>
          <a:ln xmlns:a="http://schemas.openxmlformats.org/drawingml/2006/main" w="12700">
            <a:solidFill>
              <a:srgbClr val="6C4DF6"/>
            </a:solidFill>
            <a:prstDash val="solid"/>
          </a:ln>
        </p:spPr>
      </p:sp>
      <p:pic>
        <p:nvPicPr>
          <p:cNvPr id="18" name="Image 2">
            <a:extLst xmlns:a="http://schemas.openxmlformats.org/drawingml/2006/main">
              <a:ext uri="{FF2B5EF4-FFF2-40B4-BE49-F238E27FC236}">
                <a16:creationId xmlns:a16="http://schemas.microsoft.com/office/drawing/2014/main" id="{E8507EA6-46D1-4071-9514-B74D73C478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95b4b979c43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0056" y="3977640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CC45A7A2-186B-4DCC-8020-2D215A53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675888"/>
            <a:ext cx="297180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6275A"/>
                </a:solidFill>
                <a:latin typeface="Arial"/>
                <a:ea typeface="Arial"/>
                <a:cs typeface="Arial"/>
              </a:rPr>
              <a:t>Seeded sample records load at startup. Menu changes remain in memory for the current run.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3906773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6bf7d43d5ef461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79DDF10-8A9D-4E90-B9AD-538318C3D99C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Why these algorithms fit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1827E4-7092-4945-AADF-46ADCB6C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4A4C80"/>
                </a:solidFill>
                <a:latin typeface="Arial"/>
                <a:ea typeface="Arial"/>
                <a:cs typeface="Arial"/>
              </a:rPr>
              <a:t>Match each response task to the operation it needs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926F0E-043B-48FC-93DC-DF567756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15</a:t>
            </a:r>
            <a:endParaRPr sz="1000"/>
          </a:p>
        </p:txBody>
      </p:sp>
      <p:graphicFrame>
        <p:nvGraphicFramePr>
          <p:cNvPr id="16" name="table">
            <a:extLst xmlns:a="http://schemas.openxmlformats.org/drawingml/2006/main">
              <a:ext uri="{FF2B5EF4-FFF2-40B4-BE49-F238E27FC236}">
                <a16:creationId xmlns:a16="http://schemas.microsoft.com/office/drawing/2014/main" id="{17CC430B-81A4-424E-B8F0-74280B185AE6}"/>
              </a:ext>
            </a:extLst>
          </p:cNvPr>
          <p:cNvGraphicFramePr/>
          <p:nvPr/>
        </p:nvGraphicFramePr>
        <p:xfrm>
          <a:off xmlns:a="http://schemas.openxmlformats.org/drawingml/2006/main" x="548640" y="1325880"/>
          <a:ext xmlns:a="http://schemas.openxmlformats.org/drawingml/2006/main" cx="8046720" cy="32461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60320"/>
                <a:gridCol w="2743200"/>
                <a:gridCol w="2743200"/>
              </a:tblGrid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Need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A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A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Application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A39A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Find one alert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KMP / Z / RK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Search incident text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Find many alerts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Aho-Corasick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Search messages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Index report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Suffix array + LCP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Substring lookup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Correct a typo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Levenshtein / Damerau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Rank corrections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Select supplies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0/1 knapsack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Capacity limit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Plan matrix work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Matrix-chain DP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Order operations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Route relief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Dinic / max flow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Transfer model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Assign responders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Bipartite matching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Team-task pairs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DF8F4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Study constraints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SAT / graph reductions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6275A"/>
                          </a:solidFill>
                          <a:latin typeface="Arial"/>
                          <a:ea typeface="Arial"/>
                          <a:cs typeface="Arial"/>
                        </a:rPr>
                        <a:t>Small cases and bounds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36576" marB="36576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 cmpd="sng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139102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06b94ed8bd4426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EED89F-5B81-4C5D-BB5A-523CBF95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6700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 i="0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DisasterNet Class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6FA35-A46D-446E-A073-E6CE49A9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1">
                <a:solidFill>
                  <a:srgbClr val="5A5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 i="1">
                <a:solidFill>
                  <a:srgbClr val="5A5A8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A5A87"/>
                </a:solidFill>
                <a:latin typeface="Calibri"/>
                <a:ea typeface="Calibri"/>
                <a:cs typeface="Calibri"/>
              </a:rPr>
              <a:t>Application flow and shared domain data</a:t>
            </a:r>
          </a:p>
        </p:txBody>
      </p:sp>
      <p:sp>
        <p:nvSpPr>
          <p:cNvPr id="3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AD1566B7-919F-43D0-8694-9812ACE9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621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4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47F65628-A12E-4680-A00C-C5167BD8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5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F23B0B87-B1D3-4231-BADD-3050839E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05175"/>
            <a:ext cx="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6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B5D4DB2A-EA88-42C9-82B2-90A2263D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7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74E94E07-BEF4-4905-B1D5-16900640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8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8C1D99FC-E22F-4CFD-B21A-7D99798F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337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9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ECC9F984-6355-4D3F-9B6D-3EE910A3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3337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10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A7E42C65-9F5B-4EFA-B764-759FBC50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3337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11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3754D8D0-1D8B-4779-A990-C5A96519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12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D961AC30-AC55-4515-BBBF-63C21197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6717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13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7A12344D-3B81-40C0-9DFC-9C57E94D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67175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14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6159F5C5-F13D-4766-8FB7-D980077B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7175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15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E233A59F-B77B-4398-9FF6-C105A92F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67175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7DC60-E9A9-48BB-84FC-542D6689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13" b="1">
                <a:solidFill>
                  <a:srgbClr val="5A5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13" b="1">
                <a:solidFill>
                  <a:srgbClr val="5A5A87"/>
                </a:solidFill>
                <a:latin typeface="Calibri"/>
                <a:ea typeface="Calibri"/>
                <a:cs typeface="Calibri"/>
              </a:defRPr>
            </a:pPr>
            <a:r>
              <a:rPr sz="713" b="1">
                <a:solidFill>
                  <a:srgbClr val="5A5A87"/>
                </a:solidFill>
                <a:latin typeface="Calibri"/>
                <a:ea typeface="Calibri"/>
                <a:cs typeface="Calibri"/>
              </a:rPr>
              <a:t>shared lists / collections</a:t>
            </a:r>
          </a:p>
        </p:txBody>
      </p:sp>
      <p:sp>
        <p:nvSpPr>
          <p:cNvPr id="17" name="Main class">
            <a:extLst xmlns:a="http://schemas.openxmlformats.org/drawingml/2006/main">
              <a:ext uri="{FF2B5EF4-FFF2-40B4-BE49-F238E27FC236}">
                <a16:creationId xmlns:a16="http://schemas.microsoft.com/office/drawing/2014/main" id="{131CCAE9-87D5-40CC-821E-234D767C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66800"/>
            <a:ext cx="1562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A6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Main class header">
            <a:extLst xmlns:a="http://schemas.openxmlformats.org/drawingml/2006/main">
              <a:ext uri="{FF2B5EF4-FFF2-40B4-BE49-F238E27FC236}">
                <a16:creationId xmlns:a16="http://schemas.microsoft.com/office/drawing/2014/main" id="{4F5A2292-8636-4CC4-9A06-BFF7002C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668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82"/>
          </a:solidFill>
          <a:ln xmlns:a="http://schemas.openxmlformats.org/drawingml/2006/main" w="0">
            <a:solidFill>
              <a:srgbClr val="FF4B82"/>
            </a:solidFill>
            <a:prstDash val="solid"/>
          </a:ln>
        </p:spPr>
      </p:sp>
      <p:sp>
        <p:nvSpPr>
          <p:cNvPr id="19" name="Main name">
            <a:extLst xmlns:a="http://schemas.openxmlformats.org/drawingml/2006/main">
              <a:ext uri="{FF2B5EF4-FFF2-40B4-BE49-F238E27FC236}">
                <a16:creationId xmlns:a16="http://schemas.microsoft.com/office/drawing/2014/main" id="{50D59B65-D8FF-4809-AA28-2C43CE96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0858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Main</a:t>
            </a:r>
          </a:p>
        </p:txBody>
      </p:sp>
      <p:sp>
        <p:nvSpPr>
          <p:cNvPr id="20" name="Main fields">
            <a:extLst xmlns:a="http://schemas.openxmlformats.org/drawingml/2006/main">
              <a:ext uri="{FF2B5EF4-FFF2-40B4-BE49-F238E27FC236}">
                <a16:creationId xmlns:a16="http://schemas.microsoft.com/office/drawing/2014/main" id="{7C0C231B-1E47-4581-905E-FD06E661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3049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+ main(args)</a:t>
            </a:r>
          </a:p>
        </p:txBody>
      </p:sp>
      <p:sp>
        <p:nvSpPr>
          <p:cNvPr id="21" name="MainMenu class">
            <a:extLst xmlns:a="http://schemas.openxmlformats.org/drawingml/2006/main">
              <a:ext uri="{FF2B5EF4-FFF2-40B4-BE49-F238E27FC236}">
                <a16:creationId xmlns:a16="http://schemas.microsoft.com/office/drawing/2014/main" id="{672EAA8B-9505-4E1A-8CD7-86934C08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716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A6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MainMenu class header">
            <a:extLst xmlns:a="http://schemas.openxmlformats.org/drawingml/2006/main">
              <a:ext uri="{FF2B5EF4-FFF2-40B4-BE49-F238E27FC236}">
                <a16:creationId xmlns:a16="http://schemas.microsoft.com/office/drawing/2014/main" id="{89CF1DE0-E381-4DF1-AEFD-838CF26C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71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9C"/>
          </a:solidFill>
          <a:ln xmlns:a="http://schemas.openxmlformats.org/drawingml/2006/main" w="0">
            <a:solidFill>
              <a:srgbClr val="00A69C"/>
            </a:solidFill>
            <a:prstDash val="solid"/>
          </a:ln>
        </p:spPr>
      </p:sp>
      <p:sp>
        <p:nvSpPr>
          <p:cNvPr id="23" name="MainMenu name">
            <a:extLst xmlns:a="http://schemas.openxmlformats.org/drawingml/2006/main">
              <a:ext uri="{FF2B5EF4-FFF2-40B4-BE49-F238E27FC236}">
                <a16:creationId xmlns:a16="http://schemas.microsoft.com/office/drawing/2014/main" id="{8D3F5A88-C402-40B6-B7C8-CFC2AA38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90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MainMenu</a:t>
            </a:r>
          </a:p>
        </p:txBody>
      </p:sp>
      <p:sp>
        <p:nvSpPr>
          <p:cNvPr id="24" name="MainMenu fields">
            <a:extLst xmlns:a="http://schemas.openxmlformats.org/drawingml/2006/main">
              <a:ext uri="{FF2B5EF4-FFF2-40B4-BE49-F238E27FC236}">
                <a16:creationId xmlns:a16="http://schemas.microsoft.com/office/drawing/2014/main" id="{6940A3AA-A1E4-4470-A909-1F0A47AA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09775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+ start()</a:t>
            </a:r>
          </a:p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+ open modules</a:t>
            </a:r>
          </a:p>
        </p:txBody>
      </p:sp>
      <p:sp>
        <p:nvSpPr>
          <p:cNvPr id="25" name="DataStore class">
            <a:extLst xmlns:a="http://schemas.openxmlformats.org/drawingml/2006/main">
              <a:ext uri="{FF2B5EF4-FFF2-40B4-BE49-F238E27FC236}">
                <a16:creationId xmlns:a16="http://schemas.microsoft.com/office/drawing/2014/main" id="{FE1B8BC3-B8D2-4AF7-9EA6-9FC6E1A7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86025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A6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DataStore class header">
            <a:extLst xmlns:a="http://schemas.openxmlformats.org/drawingml/2006/main">
              <a:ext uri="{FF2B5EF4-FFF2-40B4-BE49-F238E27FC236}">
                <a16:creationId xmlns:a16="http://schemas.microsoft.com/office/drawing/2014/main" id="{76F9EE2F-BFD7-4B9D-8B39-A306BF56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860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2FF"/>
          </a:solidFill>
          <a:ln xmlns:a="http://schemas.openxmlformats.org/drawingml/2006/main" w="0">
            <a:solidFill>
              <a:srgbClr val="7452FF"/>
            </a:solidFill>
            <a:prstDash val="solid"/>
          </a:ln>
        </p:spPr>
      </p:sp>
      <p:sp>
        <p:nvSpPr>
          <p:cNvPr id="27" name="DataStore name">
            <a:extLst xmlns:a="http://schemas.openxmlformats.org/drawingml/2006/main">
              <a:ext uri="{FF2B5EF4-FFF2-40B4-BE49-F238E27FC236}">
                <a16:creationId xmlns:a16="http://schemas.microsoft.com/office/drawing/2014/main" id="{B8408576-4333-49B3-8AB4-A6270560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DataStore</a:t>
            </a:r>
          </a:p>
        </p:txBody>
      </p:sp>
      <p:sp>
        <p:nvSpPr>
          <p:cNvPr id="28" name="DataStore fields">
            <a:extLst xmlns:a="http://schemas.openxmlformats.org/drawingml/2006/main">
              <a:ext uri="{FF2B5EF4-FFF2-40B4-BE49-F238E27FC236}">
                <a16:creationId xmlns:a16="http://schemas.microsoft.com/office/drawing/2014/main" id="{119E87E2-38BF-43D1-8FE1-CFB2ED60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2533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50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+ INCIDENTS : List&lt;Incident&gt;</a:t>
            </a:r>
          </a:p>
          <a:p xmlns:a="http://schemas.openxmlformats.org/drawingml/2006/main">
            <a:pPr algn="l">
              <a:defRPr sz="750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+ TEAMS / VOLUNTEERS</a:t>
            </a:r>
          </a:p>
          <a:p xmlns:a="http://schemas.openxmlformats.org/drawingml/2006/main">
            <a:pPr algn="l">
              <a:defRPr sz="750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+ SHELTERS / RESOURCES</a:t>
            </a:r>
          </a:p>
          <a:p xmlns:a="http://schemas.openxmlformats.org/drawingml/2006/main">
            <a:pPr algn="l">
              <a:defRPr sz="750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+ COMMUNICATIONS / OBSERVATIONS</a:t>
            </a:r>
          </a:p>
        </p:txBody>
      </p:sp>
      <p:sp>
        <p:nvSpPr>
          <p:cNvPr id="29" name="Incident class">
            <a:extLst xmlns:a="http://schemas.openxmlformats.org/drawingml/2006/main">
              <a:ext uri="{FF2B5EF4-FFF2-40B4-BE49-F238E27FC236}">
                <a16:creationId xmlns:a16="http://schemas.microsoft.com/office/drawing/2014/main" id="{4EC6BAE6-188C-453D-8942-459C5884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924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A6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Incident class header">
            <a:extLst xmlns:a="http://schemas.openxmlformats.org/drawingml/2006/main">
              <a:ext uri="{FF2B5EF4-FFF2-40B4-BE49-F238E27FC236}">
                <a16:creationId xmlns:a16="http://schemas.microsoft.com/office/drawing/2014/main" id="{FED1DFFE-F51F-4A48-90D5-772198E8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82"/>
          </a:solidFill>
          <a:ln xmlns:a="http://schemas.openxmlformats.org/drawingml/2006/main" w="0">
            <a:solidFill>
              <a:srgbClr val="FF4B82"/>
            </a:solidFill>
            <a:prstDash val="solid"/>
          </a:ln>
        </p:spPr>
      </p:sp>
      <p:sp>
        <p:nvSpPr>
          <p:cNvPr id="31" name="Incident name">
            <a:extLst xmlns:a="http://schemas.openxmlformats.org/drawingml/2006/main">
              <a:ext uri="{FF2B5EF4-FFF2-40B4-BE49-F238E27FC236}">
                <a16:creationId xmlns:a16="http://schemas.microsoft.com/office/drawing/2014/main" id="{75E6C80F-BAC2-465B-B8F0-05DF555C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Incident</a:t>
            </a:r>
          </a:p>
        </p:txBody>
      </p:sp>
      <p:sp>
        <p:nvSpPr>
          <p:cNvPr id="32" name="Incident fields">
            <a:extLst xmlns:a="http://schemas.openxmlformats.org/drawingml/2006/main">
              <a:ext uri="{FF2B5EF4-FFF2-40B4-BE49-F238E27FC236}">
                <a16:creationId xmlns:a16="http://schemas.microsoft.com/office/drawing/2014/main" id="{C795F144-E29A-4A60-9BB1-C0E25595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4275"/>
            <a:ext cx="1790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id, location, type</a:t>
            </a:r>
          </a:p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severity, status, people</a:t>
            </a:r>
          </a:p>
        </p:txBody>
      </p:sp>
      <p:sp>
        <p:nvSpPr>
          <p:cNvPr id="33" name="RescueTeam class">
            <a:extLst xmlns:a="http://schemas.openxmlformats.org/drawingml/2006/main">
              <a:ext uri="{FF2B5EF4-FFF2-40B4-BE49-F238E27FC236}">
                <a16:creationId xmlns:a16="http://schemas.microsoft.com/office/drawing/2014/main" id="{B42A1B07-8F3E-4203-946F-7AABF181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86150"/>
            <a:ext cx="1924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A6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RescueTeam class header">
            <a:extLst xmlns:a="http://schemas.openxmlformats.org/drawingml/2006/main">
              <a:ext uri="{FF2B5EF4-FFF2-40B4-BE49-F238E27FC236}">
                <a16:creationId xmlns:a16="http://schemas.microsoft.com/office/drawing/2014/main" id="{498401A9-5B5B-46CD-BF24-C42250E3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861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9C"/>
          </a:solidFill>
          <a:ln xmlns:a="http://schemas.openxmlformats.org/drawingml/2006/main" w="0">
            <a:solidFill>
              <a:srgbClr val="00A69C"/>
            </a:solidFill>
            <a:prstDash val="solid"/>
          </a:ln>
        </p:spPr>
      </p:sp>
      <p:sp>
        <p:nvSpPr>
          <p:cNvPr id="35" name="RescueTeam name">
            <a:extLst xmlns:a="http://schemas.openxmlformats.org/drawingml/2006/main">
              <a:ext uri="{FF2B5EF4-FFF2-40B4-BE49-F238E27FC236}">
                <a16:creationId xmlns:a16="http://schemas.microsoft.com/office/drawing/2014/main" id="{BAA7FF23-811C-4DA6-8257-9CC6990F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0520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RescueTeam</a:t>
            </a:r>
          </a:p>
        </p:txBody>
      </p:sp>
      <p:sp>
        <p:nvSpPr>
          <p:cNvPr id="36" name="RescueTeam fields">
            <a:extLst xmlns:a="http://schemas.openxmlformats.org/drawingml/2006/main">
              <a:ext uri="{FF2B5EF4-FFF2-40B4-BE49-F238E27FC236}">
                <a16:creationId xmlns:a16="http://schemas.microsoft.com/office/drawing/2014/main" id="{2D683DF4-A60A-405A-B69D-057122AC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24275"/>
            <a:ext cx="1790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teamId, name, skills</a:t>
            </a:r>
          </a:p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members, location, available</a:t>
            </a:r>
          </a:p>
        </p:txBody>
      </p:sp>
      <p:sp>
        <p:nvSpPr>
          <p:cNvPr id="37" name="Shelter class">
            <a:extLst xmlns:a="http://schemas.openxmlformats.org/drawingml/2006/main">
              <a:ext uri="{FF2B5EF4-FFF2-40B4-BE49-F238E27FC236}">
                <a16:creationId xmlns:a16="http://schemas.microsoft.com/office/drawing/2014/main" id="{113BC292-9E51-4478-AD57-247F3DE0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1924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A6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Shelter class header">
            <a:extLst xmlns:a="http://schemas.openxmlformats.org/drawingml/2006/main">
              <a:ext uri="{FF2B5EF4-FFF2-40B4-BE49-F238E27FC236}">
                <a16:creationId xmlns:a16="http://schemas.microsoft.com/office/drawing/2014/main" id="{3BB64035-AAB4-4B10-A396-D4265F5A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39" name="Shelter name">
            <a:extLst xmlns:a="http://schemas.openxmlformats.org/drawingml/2006/main">
              <a:ext uri="{FF2B5EF4-FFF2-40B4-BE49-F238E27FC236}">
                <a16:creationId xmlns:a16="http://schemas.microsoft.com/office/drawing/2014/main" id="{A68B6573-DFB9-43C0-AA0B-9EC98DDC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0520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Shelter</a:t>
            </a:r>
          </a:p>
        </p:txBody>
      </p:sp>
      <p:sp>
        <p:nvSpPr>
          <p:cNvPr id="40" name="Shelter fields">
            <a:extLst xmlns:a="http://schemas.openxmlformats.org/drawingml/2006/main">
              <a:ext uri="{FF2B5EF4-FFF2-40B4-BE49-F238E27FC236}">
                <a16:creationId xmlns:a16="http://schemas.microsoft.com/office/drawing/2014/main" id="{D6154E6A-0E4D-4418-B05D-4C59B70D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24275"/>
            <a:ext cx="1790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name, capacity, occupied</a:t>
            </a:r>
          </a:p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food, water, medicalFacility</a:t>
            </a:r>
          </a:p>
        </p:txBody>
      </p:sp>
      <p:sp>
        <p:nvSpPr>
          <p:cNvPr id="41" name="Resource class">
            <a:extLst xmlns:a="http://schemas.openxmlformats.org/drawingml/2006/main">
              <a:ext uri="{FF2B5EF4-FFF2-40B4-BE49-F238E27FC236}">
                <a16:creationId xmlns:a16="http://schemas.microsoft.com/office/drawing/2014/main" id="{F194C350-664F-4DFB-B607-9E885483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86150"/>
            <a:ext cx="1924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A6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Resource class header">
            <a:extLst xmlns:a="http://schemas.openxmlformats.org/drawingml/2006/main">
              <a:ext uri="{FF2B5EF4-FFF2-40B4-BE49-F238E27FC236}">
                <a16:creationId xmlns:a16="http://schemas.microsoft.com/office/drawing/2014/main" id="{F59FD84D-DD05-4FCB-A61A-4FB917C9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861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5EF"/>
          </a:solidFill>
          <a:ln xmlns:a="http://schemas.openxmlformats.org/drawingml/2006/main" w="0">
            <a:solidFill>
              <a:srgbClr val="2695EF"/>
            </a:solidFill>
            <a:prstDash val="solid"/>
          </a:ln>
        </p:spPr>
      </p:sp>
      <p:sp>
        <p:nvSpPr>
          <p:cNvPr id="43" name="Resource name">
            <a:extLst xmlns:a="http://schemas.openxmlformats.org/drawingml/2006/main">
              <a:ext uri="{FF2B5EF4-FFF2-40B4-BE49-F238E27FC236}">
                <a16:creationId xmlns:a16="http://schemas.microsoft.com/office/drawing/2014/main" id="{A62CF064-0CFD-4C79-8056-861D2F56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0520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Resource</a:t>
            </a:r>
          </a:p>
        </p:txBody>
      </p:sp>
      <p:sp>
        <p:nvSpPr>
          <p:cNvPr id="44" name="Resource fields">
            <a:extLst xmlns:a="http://schemas.openxmlformats.org/drawingml/2006/main">
              <a:ext uri="{FF2B5EF4-FFF2-40B4-BE49-F238E27FC236}">
                <a16:creationId xmlns:a16="http://schemas.microsoft.com/office/drawing/2014/main" id="{0813F269-6631-41CD-A5D4-35D2F52D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24275"/>
            <a:ext cx="1790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name, quantity, value</a:t>
            </a:r>
          </a:p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weight</a:t>
            </a:r>
          </a:p>
        </p:txBody>
      </p:sp>
      <p:sp>
        <p:nvSpPr>
          <p:cNvPr id="45" name="Volunteer class">
            <a:extLst xmlns:a="http://schemas.openxmlformats.org/drawingml/2006/main">
              <a:ext uri="{FF2B5EF4-FFF2-40B4-BE49-F238E27FC236}">
                <a16:creationId xmlns:a16="http://schemas.microsoft.com/office/drawing/2014/main" id="{7080D4B5-8845-4DE4-B156-F796123E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19240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A6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Volunteer class header">
            <a:extLst xmlns:a="http://schemas.openxmlformats.org/drawingml/2006/main">
              <a:ext uri="{FF2B5EF4-FFF2-40B4-BE49-F238E27FC236}">
                <a16:creationId xmlns:a16="http://schemas.microsoft.com/office/drawing/2014/main" id="{97F6C233-AD91-49C7-80B1-7D79F785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2FF"/>
          </a:solidFill>
          <a:ln xmlns:a="http://schemas.openxmlformats.org/drawingml/2006/main" w="0">
            <a:solidFill>
              <a:srgbClr val="7452FF"/>
            </a:solidFill>
            <a:prstDash val="solid"/>
          </a:ln>
        </p:spPr>
      </p:sp>
      <p:sp>
        <p:nvSpPr>
          <p:cNvPr id="47" name="Volunteer name">
            <a:extLst xmlns:a="http://schemas.openxmlformats.org/drawingml/2006/main">
              <a:ext uri="{FF2B5EF4-FFF2-40B4-BE49-F238E27FC236}">
                <a16:creationId xmlns:a16="http://schemas.microsoft.com/office/drawing/2014/main" id="{75C28472-D6A7-419E-8A6C-3233CE20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338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Volunteer</a:t>
            </a:r>
          </a:p>
        </p:txBody>
      </p:sp>
      <p:sp>
        <p:nvSpPr>
          <p:cNvPr id="48" name="Volunteer fields">
            <a:extLst xmlns:a="http://schemas.openxmlformats.org/drawingml/2006/main">
              <a:ext uri="{FF2B5EF4-FFF2-40B4-BE49-F238E27FC236}">
                <a16:creationId xmlns:a16="http://schemas.microsoft.com/office/drawing/2014/main" id="{70D243D2-6298-464B-B84D-F48BDF48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529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volunteerId, name</a:t>
            </a:r>
          </a:p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skills, location, availability</a:t>
            </a:r>
          </a:p>
        </p:txBody>
      </p:sp>
      <p:sp>
        <p:nvSpPr>
          <p:cNvPr id="49" name="Communication class">
            <a:extLst xmlns:a="http://schemas.openxmlformats.org/drawingml/2006/main">
              <a:ext uri="{FF2B5EF4-FFF2-40B4-BE49-F238E27FC236}">
                <a16:creationId xmlns:a16="http://schemas.microsoft.com/office/drawing/2014/main" id="{D4C73BB9-25C1-4A18-A343-7EE22DB1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114800"/>
            <a:ext cx="19240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A6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Communication class header">
            <a:extLst xmlns:a="http://schemas.openxmlformats.org/drawingml/2006/main">
              <a:ext uri="{FF2B5EF4-FFF2-40B4-BE49-F238E27FC236}">
                <a16:creationId xmlns:a16="http://schemas.microsoft.com/office/drawing/2014/main" id="{B31A95B3-6D2C-46FF-B736-D92D5EAF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1148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82"/>
          </a:solidFill>
          <a:ln xmlns:a="http://schemas.openxmlformats.org/drawingml/2006/main" w="0">
            <a:solidFill>
              <a:srgbClr val="FF4B82"/>
            </a:solidFill>
            <a:prstDash val="solid"/>
          </a:ln>
        </p:spPr>
      </p:sp>
      <p:sp>
        <p:nvSpPr>
          <p:cNvPr id="51" name="Communication name">
            <a:extLst xmlns:a="http://schemas.openxmlformats.org/drawingml/2006/main">
              <a:ext uri="{FF2B5EF4-FFF2-40B4-BE49-F238E27FC236}">
                <a16:creationId xmlns:a16="http://schemas.microsoft.com/office/drawing/2014/main" id="{881E3025-33B7-4039-B448-1E17A9F0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338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Communication</a:t>
            </a:r>
          </a:p>
        </p:txBody>
      </p:sp>
      <p:sp>
        <p:nvSpPr>
          <p:cNvPr id="52" name="Communication fields">
            <a:extLst xmlns:a="http://schemas.openxmlformats.org/drawingml/2006/main">
              <a:ext uri="{FF2B5EF4-FFF2-40B4-BE49-F238E27FC236}">
                <a16:creationId xmlns:a16="http://schemas.microsoft.com/office/drawing/2014/main" id="{AD0CE862-2D36-49F6-9535-E83659FF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3529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sender, receiver, message</a:t>
            </a:r>
          </a:p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priority, timestamp</a:t>
            </a:r>
          </a:p>
        </p:txBody>
      </p:sp>
      <p:sp>
        <p:nvSpPr>
          <p:cNvPr id="53" name="Observation class">
            <a:extLst xmlns:a="http://schemas.openxmlformats.org/drawingml/2006/main">
              <a:ext uri="{FF2B5EF4-FFF2-40B4-BE49-F238E27FC236}">
                <a16:creationId xmlns:a16="http://schemas.microsoft.com/office/drawing/2014/main" id="{8C11C4C4-F1A5-4A1E-8308-3A4BF95E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14800"/>
            <a:ext cx="19240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A6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Observation class header">
            <a:extLst xmlns:a="http://schemas.openxmlformats.org/drawingml/2006/main">
              <a:ext uri="{FF2B5EF4-FFF2-40B4-BE49-F238E27FC236}">
                <a16:creationId xmlns:a16="http://schemas.microsoft.com/office/drawing/2014/main" id="{508A4081-E119-49FC-9219-13B34883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148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9C"/>
          </a:solidFill>
          <a:ln xmlns:a="http://schemas.openxmlformats.org/drawingml/2006/main" w="0">
            <a:solidFill>
              <a:srgbClr val="00A69C"/>
            </a:solidFill>
            <a:prstDash val="solid"/>
          </a:ln>
        </p:spPr>
      </p:sp>
      <p:sp>
        <p:nvSpPr>
          <p:cNvPr id="55" name="Observation name">
            <a:extLst xmlns:a="http://schemas.openxmlformats.org/drawingml/2006/main">
              <a:ext uri="{FF2B5EF4-FFF2-40B4-BE49-F238E27FC236}">
                <a16:creationId xmlns:a16="http://schemas.microsoft.com/office/drawing/2014/main" id="{0B734DBE-FE1E-4740-872C-0ACFF7CA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338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Observation</a:t>
            </a:r>
          </a:p>
        </p:txBody>
      </p:sp>
      <p:sp>
        <p:nvSpPr>
          <p:cNvPr id="56" name="Observation fields">
            <a:extLst xmlns:a="http://schemas.openxmlformats.org/drawingml/2006/main">
              <a:ext uri="{FF2B5EF4-FFF2-40B4-BE49-F238E27FC236}">
                <a16:creationId xmlns:a16="http://schemas.microsoft.com/office/drawing/2014/main" id="{7679E69E-3971-4AA1-A46F-E176522F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529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location, type, description</a:t>
            </a:r>
          </a:p>
          <a:p xmlns:a="http://schemas.openxmlformats.org/drawingml/2006/main">
            <a:pPr algn="l">
              <a:defRPr sz="76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76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− severity, timestamp</a:t>
            </a:r>
          </a:p>
        </p:txBody>
      </p:sp>
      <p:sp>
        <p:nvSpPr>
          <p:cNvPr id="57" name="AlgorithmLaboratoryMenu class">
            <a:extLst xmlns:a="http://schemas.openxmlformats.org/drawingml/2006/main">
              <a:ext uri="{FF2B5EF4-FFF2-40B4-BE49-F238E27FC236}">
                <a16:creationId xmlns:a16="http://schemas.microsoft.com/office/drawing/2014/main" id="{D5E3B425-344A-4CCB-B723-3E5DE6EB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71650"/>
            <a:ext cx="2209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A6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AlgorithmLaboratoryMenu class header">
            <a:extLst xmlns:a="http://schemas.openxmlformats.org/drawingml/2006/main">
              <a:ext uri="{FF2B5EF4-FFF2-40B4-BE49-F238E27FC236}">
                <a16:creationId xmlns:a16="http://schemas.microsoft.com/office/drawing/2014/main" id="{F4C576EC-CC6C-4EFF-B0DC-8D0AF69F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716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59" name="AlgorithmLaboratoryMenu name">
            <a:extLst xmlns:a="http://schemas.openxmlformats.org/drawingml/2006/main">
              <a:ext uri="{FF2B5EF4-FFF2-40B4-BE49-F238E27FC236}">
                <a16:creationId xmlns:a16="http://schemas.microsoft.com/office/drawing/2014/main" id="{14829895-2110-483A-8E17-C9EBCF45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AlgorithmLaboratoryMenu</a:t>
            </a:r>
          </a:p>
        </p:txBody>
      </p:sp>
      <p:sp>
        <p:nvSpPr>
          <p:cNvPr id="60" name="AlgorithmLaboratoryMenu fields">
            <a:extLst xmlns:a="http://schemas.openxmlformats.org/drawingml/2006/main">
              <a:ext uri="{FF2B5EF4-FFF2-40B4-BE49-F238E27FC236}">
                <a16:creationId xmlns:a16="http://schemas.microsoft.com/office/drawing/2014/main" id="{8E5D7844-F9D8-40DB-8A0C-FD8AD4C7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97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825">
                <a:solidFill>
                  <a:srgbClr val="28265C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28265C"/>
                </a:solidFill>
                <a:latin typeface="Calibri"/>
                <a:ea typeface="Calibri"/>
                <a:cs typeface="Calibri"/>
              </a:rPr>
              <a:t>+ run module examples()</a:t>
            </a:r>
          </a:p>
        </p:txBody>
      </p:sp>
      <p:sp>
        <p:nvSpPr>
          <p:cNvPr id="61" name="UML association">
            <a:extLst xmlns:a="http://schemas.openxmlformats.org/drawingml/2006/main">
              <a:ext uri="{FF2B5EF4-FFF2-40B4-BE49-F238E27FC236}">
                <a16:creationId xmlns:a16="http://schemas.microsoft.com/office/drawing/2014/main" id="{F7032334-75EA-4930-9A51-1E38D67D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1930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8265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F7569F-4D82-4F20-A4A6-D782300A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84785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13" b="1">
                <a:solidFill>
                  <a:srgbClr val="5A5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13" b="1">
                <a:solidFill>
                  <a:srgbClr val="5A5A87"/>
                </a:solidFill>
                <a:latin typeface="Calibri"/>
                <a:ea typeface="Calibri"/>
                <a:cs typeface="Calibri"/>
              </a:defRPr>
            </a:pPr>
            <a:r>
              <a:rPr sz="713" b="1">
                <a:solidFill>
                  <a:srgbClr val="5A5A87"/>
                </a:solidFill>
                <a:latin typeface="Calibri"/>
                <a:ea typeface="Calibri"/>
                <a:cs typeface="Calibri"/>
              </a:rPr>
              <a:t>opens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43A873-B48A-452D-B043-E67167E1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886325"/>
            <a:ext cx="804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0" i="1">
                <a:solidFill>
                  <a:srgbClr val="5A5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750" b="0" i="1">
                <a:solidFill>
                  <a:srgbClr val="5A5A87"/>
                </a:solidFill>
                <a:latin typeface="Calibri"/>
                <a:ea typeface="Calibri"/>
                <a:cs typeface="Calibri"/>
              </a:defRPr>
            </a:pPr>
            <a:r>
              <a:rPr sz="750" b="0" i="1">
                <a:solidFill>
                  <a:srgbClr val="5A5A87"/>
                </a:solidFill>
                <a:latin typeface="Calibri"/>
                <a:ea typeface="Calibri"/>
                <a:cs typeface="Calibri"/>
              </a:rPr>
              <a:t>Solid association: DataStore holds collections of the domain model objects.</a:t>
            </a:r>
          </a:p>
        </p:txBody>
      </p:sp>
    </p:spTree>
    <p:extLst>
      <p:ext uri="{BB962C8B-B14F-4D97-AF65-F5344CB8AC3E}">
        <p14:creationId xmlns:p14="http://schemas.microsoft.com/office/powerpoint/2010/main" val="1165975491"/>
      </p:ext>
    </p:extLst>
  </p:cSld>
</p:sld>
</file>

<file path=ppt/slides/slide1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c6576150d7e47e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1E27C7-71B2-41DC-B4F5-7E318E0759E6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274320"/>
            <a:ext cx="7223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Summary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B6F28E1-7042-45F4-A8C4-3B8FFEE9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4C80"/>
                </a:solidFill>
                <a:latin typeface="Arial"/>
                <a:ea typeface="Arial"/>
                <a:cs typeface="Arial"/>
              </a:rPr>
              <a:t>17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35E7533-A5B0-4546-A966-182AC9B2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1560"/>
            <a:ext cx="7315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C4DF6"/>
                </a:solidFill>
                <a:latin typeface="Arial"/>
                <a:ea typeface="Arial"/>
                <a:cs typeface="Arial"/>
              </a:rPr>
              <a:t>Six DSA modules support a Java command-line tool for emergency coordination.</a:t>
            </a:r>
            <a:endParaRPr sz="1800"/>
          </a:p>
        </p:txBody>
      </p:sp>
      <p:sp>
        <p:nvSpPr>
          <p:cNvPr id="6" name="halo">
            <a:extLst xmlns:a="http://schemas.openxmlformats.org/drawingml/2006/main">
              <a:ext uri="{FF2B5EF4-FFF2-40B4-BE49-F238E27FC236}">
                <a16:creationId xmlns:a16="http://schemas.microsoft.com/office/drawing/2014/main" id="{29B5F753-AEDC-4EC7-8C1B-E3E41788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93392"/>
            <a:ext cx="1956816" cy="19568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7" name="stat-circle">
            <a:extLst xmlns:a="http://schemas.openxmlformats.org/drawingml/2006/main">
              <a:ext uri="{FF2B5EF4-FFF2-40B4-BE49-F238E27FC236}">
                <a16:creationId xmlns:a16="http://schemas.microsoft.com/office/drawing/2014/main" id="{2E733C8B-CD1C-4307-BCC2-BD64B088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737360" cy="1737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81"/>
          </a:solidFill>
          <a:ln xmlns:a="http://schemas.openxmlformats.org/drawingml/2006/main" w="508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18BC7D7-A07E-4D50-913C-CB576A28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737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4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AA74D73-C929-465A-88FD-5BE1EF09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23360"/>
            <a:ext cx="2194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modules</a:t>
            </a:r>
            <a:endParaRPr sz="1500"/>
          </a:p>
        </p:txBody>
      </p:sp>
      <p:sp>
        <p:nvSpPr>
          <p:cNvPr id="10" name="halo">
            <a:extLst xmlns:a="http://schemas.openxmlformats.org/drawingml/2006/main">
              <a:ext uri="{FF2B5EF4-FFF2-40B4-BE49-F238E27FC236}">
                <a16:creationId xmlns:a16="http://schemas.microsoft.com/office/drawing/2014/main" id="{E2F16AA0-DD41-44D7-8426-44AD8E14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993392"/>
            <a:ext cx="1956816" cy="19568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1" name="stat-circle">
            <a:extLst xmlns:a="http://schemas.openxmlformats.org/drawingml/2006/main">
              <a:ext uri="{FF2B5EF4-FFF2-40B4-BE49-F238E27FC236}">
                <a16:creationId xmlns:a16="http://schemas.microsoft.com/office/drawing/2014/main" id="{A7D07105-397A-4BFD-AE48-1BCDA973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1737360" cy="1737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9A"/>
          </a:solidFill>
          <a:ln xmlns:a="http://schemas.openxmlformats.org/drawingml/2006/main" w="508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DE45928-534B-4713-96F8-FB461BC8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1737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48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E2D633A-7F0B-48AE-8107-59B19742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023360"/>
            <a:ext cx="2194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operational data areas</a:t>
            </a:r>
            <a:endParaRPr sz="1500"/>
          </a:p>
        </p:txBody>
      </p:sp>
      <p:sp>
        <p:nvSpPr>
          <p:cNvPr id="14" name="halo">
            <a:extLst xmlns:a="http://schemas.openxmlformats.org/drawingml/2006/main">
              <a:ext uri="{FF2B5EF4-FFF2-40B4-BE49-F238E27FC236}">
                <a16:creationId xmlns:a16="http://schemas.microsoft.com/office/drawing/2014/main" id="{A42CEDEB-F645-41D5-9103-56CDF5B6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1993392"/>
            <a:ext cx="1956816" cy="19568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5" name="stat-circle">
            <a:extLst xmlns:a="http://schemas.openxmlformats.org/drawingml/2006/main">
              <a:ext uri="{FF2B5EF4-FFF2-40B4-BE49-F238E27FC236}">
                <a16:creationId xmlns:a16="http://schemas.microsoft.com/office/drawing/2014/main" id="{E96B06F5-D7BB-4631-B8E4-43929FEE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103120"/>
            <a:ext cx="1737360" cy="1737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F0"/>
          </a:solidFill>
          <a:ln xmlns:a="http://schemas.openxmlformats.org/drawingml/2006/main" w="50800">
            <a:solidFill>
              <a:srgbClr val="FFFFFF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6B5CA5">
                <a:alpha val="18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A85EE23-5CAA-4543-A1AF-87BD4287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103120"/>
            <a:ext cx="1737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17+</a:t>
            </a:r>
            <a:endParaRPr sz="48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C5A5B10-39CB-4359-8AC6-CC20826E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023360"/>
            <a:ext cx="2194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6275A"/>
                </a:solidFill>
                <a:latin typeface="Arial"/>
                <a:ea typeface="Arial"/>
                <a:cs typeface="Arial"/>
              </a:rPr>
              <a:t>JDK requirement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715669605"/>
      </p:ext>
    </p:extLst>
  </p:cSld>
</p:sld>
</file>

<file path=ppt/theme/theme1.xml><?xml version="1.0" encoding="utf-8"?>
<a:theme xmlns:a="http://schemas.openxmlformats.org/drawingml/2006/main" name="DisasterNet Pop">
  <a:themeElements>
    <a:clrScheme name="DisasterNet Pop">
      <a:dk1>
        <a:srgbClr val="26275A"/>
      </a:dk1>
      <a:lt1>
        <a:srgbClr val="FFFFFF"/>
      </a:lt1>
      <a:dk2>
        <a:srgbClr val="4A4C80"/>
      </a:dk2>
      <a:lt2>
        <a:srgbClr val="EEE9FF"/>
      </a:lt2>
      <a:accent1>
        <a:srgbClr val="FF4F81"/>
      </a:accent1>
      <a:accent2>
        <a:srgbClr val="00A39A"/>
      </a:accent2>
      <a:accent3>
        <a:srgbClr val="6C4DF6"/>
      </a:accent3>
      <a:accent4>
        <a:srgbClr val="FFB400"/>
      </a:accent4>
      <a:accent5>
        <a:srgbClr val="1E8EF0"/>
      </a:accent5>
      <a:accent6>
        <a:srgbClr val="FF8A5C"/>
      </a:accent6>
      <a:hlink>
        <a:srgbClr val="1E8EF0"/>
      </a:hlink>
      <a:folHlink>
        <a:srgbClr val="6C4DF6"/>
      </a:folHlink>
    </a:clrScheme>
    <a:fontScheme name="DisasterNet Po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sasterNet P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2026-10-16T05:01:57.3000000Z</dcterms:created>
  <dcterms:modified xsi:type="dcterms:W3CDTF">2026-10-16T05:01:57.3000000Z</dcterms:modified>
</coreProperties>
</file>