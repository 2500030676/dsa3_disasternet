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adaf8470934ded" /><Relationship Type="http://schemas.openxmlformats.org/officeDocument/2006/relationships/extended-properties" Target="/docProps/app.xml" Id="R8474d999fac74040" /><Relationship Type="http://schemas.openxmlformats.org/officeDocument/2006/relationships/officeDocument" Target="/ppt/presentation.xml" Id="R0bff508b645f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b7f43a4bb14718"/>
  </p:sldMasterIdLst>
  <p:notesMasterIdLst>
    <p:notesMasterId xmlns:r="http://schemas.openxmlformats.org/officeDocument/2006/relationships" r:id="R681b01c6170d439c"/>
  </p:notesMasterIdLst>
  <p:sldIdLst>
    <p:sldId xmlns:r="http://schemas.openxmlformats.org/officeDocument/2006/relationships" id="256" r:id="R40214e32294140e1"/>
    <p:sldId xmlns:r="http://schemas.openxmlformats.org/officeDocument/2006/relationships" id="257" r:id="R59584fd4ad764e92"/>
    <p:sldId xmlns:r="http://schemas.openxmlformats.org/officeDocument/2006/relationships" id="258" r:id="Reeebb710dd4341de"/>
    <p:sldId xmlns:r="http://schemas.openxmlformats.org/officeDocument/2006/relationships" id="259" r:id="R79be02f4ff54484b"/>
    <p:sldId xmlns:r="http://schemas.openxmlformats.org/officeDocument/2006/relationships" id="260" r:id="R98a13a3906594f90"/>
    <p:sldId xmlns:r="http://schemas.openxmlformats.org/officeDocument/2006/relationships" id="261" r:id="R480547a540df45d3"/>
    <p:sldId xmlns:r="http://schemas.openxmlformats.org/officeDocument/2006/relationships" id="262" r:id="R24b6610a3a1948e5"/>
    <p:sldId xmlns:r="http://schemas.openxmlformats.org/officeDocument/2006/relationships" id="263" r:id="Ra69fffa5ad194174"/>
    <p:sldId xmlns:r="http://schemas.openxmlformats.org/officeDocument/2006/relationships" id="264" r:id="R1345b0ca08f04e40"/>
    <p:sldId xmlns:r="http://schemas.openxmlformats.org/officeDocument/2006/relationships" id="265" r:id="Rdbf188fac70a41e7"/>
    <p:sldId xmlns:r="http://schemas.openxmlformats.org/officeDocument/2006/relationships" id="266" r:id="Rc5f2b0ad03c44b10"/>
    <p:sldId xmlns:r="http://schemas.openxmlformats.org/officeDocument/2006/relationships" id="267" r:id="R1c200bb38cc64349"/>
    <p:sldId xmlns:r="http://schemas.openxmlformats.org/officeDocument/2006/relationships" id="268" r:id="R392e07f1bf194568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0878a75554472c" /><Relationship Type="http://schemas.openxmlformats.org/officeDocument/2006/relationships/slideMaster" Target="/ppt/slideMasters/slideMaster1.xml" Id="Re0b7f43a4bb14718" /><Relationship Type="http://schemas.openxmlformats.org/officeDocument/2006/relationships/notesMaster" Target="/ppt/notesMasters/notesMaster1.xml" Id="R681b01c6170d439c" /><Relationship Type="http://schemas.openxmlformats.org/officeDocument/2006/relationships/presProps" Target="/ppt/presProps.xml" Id="R62d1cc72ff5344aa" /><Relationship Type="http://schemas.openxmlformats.org/officeDocument/2006/relationships/viewProps" Target="/ppt/viewProps.xml" Id="R32cc524509f24d86" /><Relationship Type="http://schemas.openxmlformats.org/officeDocument/2006/relationships/tableStyles" Target="/ppt/tableStyles.xml" Id="R2fe880c4c01542e6" /><Relationship Type="http://schemas.openxmlformats.org/officeDocument/2006/relationships/slide" Target="/ppt/slides/slide1.xml" Id="R40214e32294140e1" /><Relationship Type="http://schemas.openxmlformats.org/officeDocument/2006/relationships/slide" Target="/ppt/slides/slide2.xml" Id="R59584fd4ad764e92" /><Relationship Type="http://schemas.openxmlformats.org/officeDocument/2006/relationships/slide" Target="/ppt/slides/slide3.xml" Id="Reeebb710dd4341de" /><Relationship Type="http://schemas.openxmlformats.org/officeDocument/2006/relationships/slide" Target="/ppt/slides/slide4.xml" Id="R79be02f4ff54484b" /><Relationship Type="http://schemas.openxmlformats.org/officeDocument/2006/relationships/slide" Target="/ppt/slides/slide5.xml" Id="R98a13a3906594f90" /><Relationship Type="http://schemas.openxmlformats.org/officeDocument/2006/relationships/slide" Target="/ppt/slides/slide6.xml" Id="R480547a540df45d3" /><Relationship Type="http://schemas.openxmlformats.org/officeDocument/2006/relationships/slide" Target="/ppt/slides/slide7.xml" Id="R24b6610a3a1948e5" /><Relationship Type="http://schemas.openxmlformats.org/officeDocument/2006/relationships/slide" Target="/ppt/slides/slide8.xml" Id="Ra69fffa5ad194174" /><Relationship Type="http://schemas.openxmlformats.org/officeDocument/2006/relationships/slide" Target="/ppt/slides/slide9.xml" Id="R1345b0ca08f04e40" /><Relationship Type="http://schemas.openxmlformats.org/officeDocument/2006/relationships/slide" Target="/ppt/slides/slide10.xml" Id="Rdbf188fac70a41e7" /><Relationship Type="http://schemas.openxmlformats.org/officeDocument/2006/relationships/slide" Target="/ppt/slides/slide11.xml" Id="Rc5f2b0ad03c44b10" /><Relationship Type="http://schemas.openxmlformats.org/officeDocument/2006/relationships/slide" Target="/ppt/slides/slide12.xml" Id="R1c200bb38cc64349" /><Relationship Type="http://schemas.openxmlformats.org/officeDocument/2006/relationships/slide" Target="/ppt/slides/slide13.xml" Id="R392e07f1bf19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a7cc99bb31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irportFlow">
  <a:themeElements>
    <a:clrScheme name="AirportFlow">
      <a:dk1>
        <a:srgbClr val="0B1F33"/>
      </a:dk1>
      <a:lt1>
        <a:srgbClr val="FFFFFF"/>
      </a:lt1>
      <a:dk2>
        <a:srgbClr val="14324F"/>
      </a:dk2>
      <a:lt2>
        <a:srgbClr val="EEF2F6"/>
      </a:lt2>
      <a:accent1>
        <a:srgbClr val="F2A900"/>
      </a:accent1>
      <a:accent2>
        <a:srgbClr val="1FA2A6"/>
      </a:accent2>
      <a:accent3>
        <a:srgbClr val="E4572E"/>
      </a:accent3>
      <a:accent4>
        <a:srgbClr val="4A6580"/>
      </a:accent4>
      <a:accent5>
        <a:srgbClr val="7BC47F"/>
      </a:accent5>
      <a:accent6>
        <a:srgbClr val="8E6BBF"/>
      </a:accent6>
      <a:hlink>
        <a:srgbClr val="1FA2A6"/>
      </a:hlink>
      <a:folHlink>
        <a:srgbClr val="4A6580"/>
      </a:folHlink>
    </a:clrScheme>
    <a:fontScheme name="Airport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irportFl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aa563ffc7d4ab7" /><Relationship Type="http://schemas.openxmlformats.org/officeDocument/2006/relationships/notesMaster" Target="/ppt/notesMasters/notesMaster1.xml" Id="R70c95ad024084e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40f2d08224f90" /><Relationship Type="http://schemas.openxmlformats.org/officeDocument/2006/relationships/notesMaster" Target="/ppt/notesMasters/notesMaster1.xml" Id="R86efe2bfea62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9e8840b244556" /><Relationship Type="http://schemas.openxmlformats.org/officeDocument/2006/relationships/notesMaster" Target="/ppt/notesMasters/notesMaster1.xml" Id="R1eab0b86ef1748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f22f8bf2514a08" /><Relationship Type="http://schemas.openxmlformats.org/officeDocument/2006/relationships/notesMaster" Target="/ppt/notesMasters/notesMaster1.xml" Id="R8a14c9a510df46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7a96dbd8614056" /><Relationship Type="http://schemas.openxmlformats.org/officeDocument/2006/relationships/notesMaster" Target="/ppt/notesMasters/notesMaster1.xml" Id="R48ef9fde7eb94d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71f37c56d645ec" /><Relationship Type="http://schemas.openxmlformats.org/officeDocument/2006/relationships/notesMaster" Target="/ppt/notesMasters/notesMaster1.xml" Id="R925c621e2a3f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f7b1f04d114c7c" /><Relationship Type="http://schemas.openxmlformats.org/officeDocument/2006/relationships/notesMaster" Target="/ppt/notesMasters/notesMaster1.xml" Id="Rab1c4e0d14cc4b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bdb20f49d5490f" /><Relationship Type="http://schemas.openxmlformats.org/officeDocument/2006/relationships/notesMaster" Target="/ppt/notesMasters/notesMaster1.xml" Id="R2b5e9692645042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b1c3ce1df443e" /><Relationship Type="http://schemas.openxmlformats.org/officeDocument/2006/relationships/notesMaster" Target="/ppt/notesMasters/notesMaster1.xml" Id="R082af00143b944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452c7b996d43c7" /><Relationship Type="http://schemas.openxmlformats.org/officeDocument/2006/relationships/notesMaster" Target="/ppt/notesMasters/notesMaster1.xml" Id="R9d0d4b0dae7a41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8e32770f944620" /><Relationship Type="http://schemas.openxmlformats.org/officeDocument/2006/relationships/notesMaster" Target="/ppt/notesMasters/notesMaster1.xml" Id="R86a5d5a481ae42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a0150afdbc47f6" /><Relationship Type="http://schemas.openxmlformats.org/officeDocument/2006/relationships/notesMaster" Target="/ppt/notesMasters/notesMaster1.xml" Id="Ra54ee48b383f4c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411151f7f94322" /><Relationship Type="http://schemas.openxmlformats.org/officeDocument/2006/relationships/notesMaster" Target="/ppt/notesMasters/notesMaster1.xml" Id="R4decf74a67b1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DisasterNet. Team: K. Prasanthi Lakshmi, Ch. Poojitha and K. Bharathi Sree.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six operator needs (a)-(f) from the README.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src/DisasterNetflow/m1..m6, Main, UI, Data, Benchmark; test/AllTests.java with 48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algorithm solves a different search shape: one pattern, many patterns, prefixes. Naive search is kept as a baseline/oracle.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 doubling is kept as an oracle to check SA-IS. Benchmark: n = 400,000 doubling 2175 ms vs SA-IS 347 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DELYAED -&gt; DELAYED is 1 Damerau edit but 2 Levenshtein edits. Smith-Waterman floors scores at 0 and starts the traceback at the maximum cell.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 flow 270 = 140 + 130, the two bottleneck edges into Aircraft. Ford-Fulkerson, Edmonds-Karp and Dinic all agree.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Satisfiable &lt;=&gt; clique of size k = number of clauses. Independent set is a clique in the complement graph; vertex cover is V minus an independent set.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Sorted input n=4000: deterministic 7,998,000 comparisons vs randomized 51,876. Reservoir sampling tested for uniformity (each element about k/N = 0.3).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docs/test_results.txt. Random testing compares each fast algorithm against a naive or brute-force version.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rubric-2 algorithm selection argument from REVIEW1.md, plus the max-flow benchmark.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 11 runs every algorithm with default inputs; then show the interactive items.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six algorithm modules and seven managed data areas. Sample data remains in memory for the current run.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0c8577de049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4c9a1e65742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07f6172544ea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6F8E17F-F43C-4F38-BC4C-66DA750682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633a0069e140c2" /><Relationship Type="http://schemas.openxmlformats.org/officeDocument/2006/relationships/slideLayout" Target="/ppt/slideLayouts/slideLayout1.xml" Id="R2984965c039f4377" /><Relationship Type="http://schemas.openxmlformats.org/officeDocument/2006/relationships/slideLayout" Target="/ppt/slideLayouts/slideLayout2.xml" Id="R8d936dd7f2564a31" /><Relationship Type="http://schemas.openxmlformats.org/officeDocument/2006/relationships/slideLayout" Target="/ppt/slideLayouts/slideLayout3.xml" Id="Rcd76ef4b12fd45b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93AC2CA-7B5A-4549-960F-D995E1D7DF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4965c039f4377"/>
    <p:sldLayoutId xmlns:r="http://schemas.openxmlformats.org/officeDocument/2006/relationships" id="2147483650" r:id="R8d936dd7f2564a31"/>
    <p:sldLayoutId xmlns:r="http://schemas.openxmlformats.org/officeDocument/2006/relationships" id="2147483651" r:id="Rcd76ef4b12fd45b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AirportFlow">
  <a:themeElements>
    <a:clrScheme name="AirportFlow">
      <a:dk1>
        <a:srgbClr val="0B1F33"/>
      </a:dk1>
      <a:lt1>
        <a:srgbClr val="FFFFFF"/>
      </a:lt1>
      <a:dk2>
        <a:srgbClr val="14324F"/>
      </a:dk2>
      <a:lt2>
        <a:srgbClr val="EEF2F6"/>
      </a:lt2>
      <a:accent1>
        <a:srgbClr val="F2A900"/>
      </a:accent1>
      <a:accent2>
        <a:srgbClr val="1FA2A6"/>
      </a:accent2>
      <a:accent3>
        <a:srgbClr val="E4572E"/>
      </a:accent3>
      <a:accent4>
        <a:srgbClr val="4A6580"/>
      </a:accent4>
      <a:accent5>
        <a:srgbClr val="7BC47F"/>
      </a:accent5>
      <a:accent6>
        <a:srgbClr val="8E6BBF"/>
      </a:accent6>
      <a:hlink>
        <a:srgbClr val="1FA2A6"/>
      </a:hlink>
      <a:folHlink>
        <a:srgbClr val="4A6580"/>
      </a:folHlink>
    </a:clrScheme>
    <a:fontScheme name="Airport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irportFl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ba8f247d104579" /><Relationship Type="http://schemas.openxmlformats.org/officeDocument/2006/relationships/notesSlide" Target="/ppt/notesSlides/notesSlide1.xml" Id="R8b5a3609270946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f6ffac0c1247b7" /><Relationship Type="http://schemas.openxmlformats.org/officeDocument/2006/relationships/notesSlide" Target="/ppt/notesSlides/notesSlide2.xml" Id="Rc260af1f632c42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83a7adc8f847bd" /><Relationship Type="http://schemas.openxmlformats.org/officeDocument/2006/relationships/notesSlide" Target="/ppt/notesSlides/notesSlide3.xml" Id="R03af5db3652b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4114fb8e2b47c5" /><Relationship Type="http://schemas.openxmlformats.org/officeDocument/2006/relationships/notesSlide" Target="/ppt/notesSlides/notesSlide4.xml" Id="R77baa4aac1044f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85a560f4046a1" /><Relationship Type="http://schemas.openxmlformats.org/officeDocument/2006/relationships/chart" Target="/ppt/slides/charts/chart1.xml" Id="R94bbc56a1beb48d4" /><Relationship Type="http://schemas.openxmlformats.org/officeDocument/2006/relationships/notesSlide" Target="/ppt/notesSlides/notesSlide5.xml" Id="Ra8e7b3fae5a8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d6f18d0fd4268" /><Relationship Type="http://schemas.openxmlformats.org/officeDocument/2006/relationships/notesSlide" Target="/ppt/notesSlides/notesSlide6.xml" Id="R6ba7b8dfe6984f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0ee949f894dbe" /><Relationship Type="http://schemas.openxmlformats.org/officeDocument/2006/relationships/notesSlide" Target="/ppt/notesSlides/notesSlide7.xml" Id="R4077cd850c2040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fad59096af4ccf" /><Relationship Type="http://schemas.openxmlformats.org/officeDocument/2006/relationships/notesSlide" Target="/ppt/notesSlides/notesSlide8.xml" Id="Rb52fe72752ee4c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519c86aa14656" /><Relationship Type="http://schemas.openxmlformats.org/officeDocument/2006/relationships/notesSlide" Target="/ppt/notesSlides/notesSlide9.xml" Id="R62344fa5b02e48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f76ba2b70e4ef1" /><Relationship Type="http://schemas.openxmlformats.org/officeDocument/2006/relationships/chart" Target="/ppt/slides/charts/chart2.xml" Id="R764262a9e16f4baf" /><Relationship Type="http://schemas.openxmlformats.org/officeDocument/2006/relationships/notesSlide" Target="/ppt/notesSlides/notesSlide10.xml" Id="Rc77e33c9245348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3da9cc02fa4c7e" /><Relationship Type="http://schemas.openxmlformats.org/officeDocument/2006/relationships/notesSlide" Target="/ppt/notesSlides/notesSlide11.xml" Id="R69d00f6251a743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0e2c798ef742e2" /><Relationship Type="http://schemas.openxmlformats.org/officeDocument/2006/relationships/notesSlide" Target="/ppt/notesSlides/notesSlide12.xml" Id="Re22ad2db83b146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d3371482a24cfd" /><Relationship Type="http://schemas.openxmlformats.org/officeDocument/2006/relationships/notesSlide" Target="/ppt/notesSlides/notesSlide13.xml" Id="Re017f1d5cf83408d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 u="none" strike="noStrike">
                <a:solidFill>
                  <a:srgbClr val="0B1F33"/>
                </a:solidFill>
                <a:latin typeface="+mn-lt"/>
                <a:ea typeface="+mn-lt"/>
                <a:cs typeface="+mn-lt"/>
              </a:rPr>
              <a:t>Suffix array build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 i="0" u="none" strike="noStrike">
              <a:solidFill>
                <a:srgbClr val="0B1F33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Doubling</c:v>
                </c:pt>
              </c:strCache>
            </c:strRef>
          </c:tx>
          <c:spPr>
            <a:solidFill xmlns:a="http://schemas.openxmlformats.org/drawingml/2006/main">
              <a:srgbClr val="4A6580"/>
            </a:solidFill>
          </c:spPr>
          <c:invertIfNegative val="0"/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 strike="noStrike">
                    <a:solidFill>
                      <a:srgbClr val="0B1F33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10k</c:v>
                </c:pt>
                <c:pt idx="1">
                  <c:v>100k</c:v>
                </c:pt>
                <c:pt idx="2">
                  <c:v>400k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91.18</c:v>
                </c:pt>
                <c:pt idx="1">
                  <c:v>500.42</c:v>
                </c:pt>
                <c:pt idx="2">
                  <c:v>2175.47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SA-IS</c:v>
                </c:pt>
              </c:strCache>
            </c:strRef>
          </c:tx>
          <c:spPr>
            <a:solidFill xmlns:a="http://schemas.openxmlformats.org/drawingml/2006/main">
              <a:srgbClr val="1FA2A6"/>
            </a:solidFill>
          </c:spPr>
          <c:invertIfNegative val="0"/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 strike="noStrike">
                    <a:solidFill>
                      <a:srgbClr val="0B1F33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10k</c:v>
                </c:pt>
                <c:pt idx="1">
                  <c:v>100k</c:v>
                </c:pt>
                <c:pt idx="2">
                  <c:v>400k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31.35</c:v>
                </c:pt>
                <c:pt idx="1">
                  <c:v>78</c:v>
                </c:pt>
                <c:pt idx="2">
                  <c:v>346.96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 strike="noStrike">
                  <a:solidFill>
                    <a:srgbClr val="0B1F33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 strike="noStrike">
                <a:solidFill>
                  <a:srgbClr val="4A658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6350">
              <a:solidFill>
                <a:srgbClr val="DDE3EA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 strike="noStrike">
                <a:solidFill>
                  <a:srgbClr val="4A658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A6580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span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 u="none" strike="noStrike">
                <a:solidFill>
                  <a:srgbClr val="0B1F33"/>
                </a:solidFill>
                <a:latin typeface="+mn-lt"/>
                <a:ea typeface="+mn-lt"/>
                <a:cs typeface="+mn-lt"/>
              </a:rPr>
              <a:t>Unit tests per module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 i="0" u="none" strike="noStrike">
              <a:solidFill>
                <a:srgbClr val="0B1F33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 xmlns:a="http://schemas.openxmlformats.org/drawingml/2006/main">
              <a:srgbClr val="1FA2A6"/>
            </a:solidFill>
          </c:spPr>
          <c:invertIfNegative val="0"/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 strike="noStrike">
                    <a:solidFill>
                      <a:srgbClr val="0B1F33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8</c:v>
                </c:pt>
                <c:pt idx="2">
                  <c:v>12</c:v>
                </c:pt>
                <c:pt idx="3">
                  <c:v>4</c:v>
                </c:pt>
                <c:pt idx="4">
                  <c:v>4</c:v>
                </c:pt>
                <c:pt idx="5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 strike="noStrike">
                  <a:solidFill>
                    <a:srgbClr val="0B1F33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 strike="noStrike">
                <a:solidFill>
                  <a:srgbClr val="4A658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6350">
              <a:solidFill>
                <a:srgbClr val="DDE3EA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 strike="noStrike">
                <a:solidFill>
                  <a:srgbClr val="4A658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  <c:dispBlanksAs val="span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E6093B-DB44-4F28-B86E-83B86B3D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914400"/>
            <a:ext cx="3291840" cy="3291840"/>
          </a:xfrm>
          <a:prstGeom xmlns:a="http://schemas.openxmlformats.org/drawingml/2006/main" prst="ellipse">
            <a:avLst/>
          </a:prstGeom>
          <a:ln xmlns:a="http://schemas.openxmlformats.org/drawingml/2006/main" w="15875">
            <a:solidFill>
              <a:srgbClr val="1F44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2DBD31-6E6F-400B-92EC-8D9D1D29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2468880" cy="2468880"/>
          </a:xfrm>
          <a:prstGeom xmlns:a="http://schemas.openxmlformats.org/drawingml/2006/main" prst="ellipse">
            <a:avLst/>
          </a:prstGeom>
          <a:ln xmlns:a="http://schemas.openxmlformats.org/drawingml/2006/main" w="15875">
            <a:solidFill>
              <a:srgbClr val="1F44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3659D7F-3F7F-4336-9B6E-E35DCE2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7360"/>
            <a:ext cx="1645920" cy="1645920"/>
          </a:xfrm>
          <a:prstGeom xmlns:a="http://schemas.openxmlformats.org/drawingml/2006/main" prst="ellipse">
            <a:avLst/>
          </a:prstGeom>
          <a:ln xmlns:a="http://schemas.openxmlformats.org/drawingml/2006/main" w="15875">
            <a:solidFill>
              <a:srgbClr val="2A5C8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1E52BF-1458-4B0A-BBBC-D80BB34E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822960" cy="822960"/>
          </a:xfrm>
          <a:prstGeom xmlns:a="http://schemas.openxmlformats.org/drawingml/2006/main" prst="ellipse">
            <a:avLst/>
          </a:prstGeom>
          <a:ln xmlns:a="http://schemas.openxmlformats.org/drawingml/2006/main" w="15875">
            <a:solidFill>
              <a:srgbClr val="1FA2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3988230-DE9A-46DC-8D63-B1CC54FF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4884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D7C956-B980-4C5A-9694-38D8F4B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300">
                <a:solidFill>
                  <a:schemeClr val="accent1"/>
                </a:solidFill>
              </a:rPr>
              <a:t>JAVA DSA PROJECT · DISASTERNET</a:t>
            </a:r>
            <a:endParaRPr sz="1300"/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3F05C16-411B-47E4-AA8B-29519114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669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DisasterNet</a:t>
            </a:r>
            <a:endParaRPr sz="5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7CCE64-2944-4A5C-90EE-A34FF58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5669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EB"/>
                </a:solidFill>
              </a:rPr>
              <a:t>Emergency Response &amp; Resource Coordination System</a:t>
            </a:r>
            <a:endParaRPr sz="20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049D2B8-9D9A-4CF2-AF66-AD531C8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1671002" cy="116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600" b="1">
                <a:solidFill>
                  <a:srgbClr val="CADCEB"/>
                </a:solidFill>
                <a:latin typeface="Calibri"/>
                <a:ea typeface="Calibri"/>
                <a:cs typeface="Calibri"/>
              </a:rPr>
              <a:t>Team Members: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500" b="0">
                <a:solidFill>
                  <a:srgbClr val="CADCEB"/>
                </a:solidFill>
                <a:latin typeface="Calibri"/>
                <a:ea typeface="Calibri"/>
                <a:cs typeface="Calibri"/>
              </a:rPr>
              <a:t>K. Prasanthi Lakshmi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500" b="0">
                <a:solidFill>
                  <a:srgbClr val="CADCEB"/>
                </a:solidFill>
                <a:latin typeface="Calibri"/>
                <a:ea typeface="Calibri"/>
                <a:cs typeface="Calibri"/>
              </a:rPr>
              <a:t>Ch. Poojitha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500" b="0">
                <a:solidFill>
                  <a:srgbClr val="CADCEB"/>
                </a:solidFill>
                <a:latin typeface="Calibri"/>
                <a:ea typeface="Calibri"/>
                <a:cs typeface="Calibri"/>
              </a:rPr>
              <a:t>K. Bharathi Sree</a:t>
            </a:r>
          </a:p>
        </p:txBody>
      </p:sp>
    </p:spTree>
    <p:extLst>
      <p:ext uri="{BB962C8B-B14F-4D97-AF65-F5344CB8AC3E}">
        <p14:creationId xmlns:p14="http://schemas.microsoft.com/office/powerpoint/2010/main" val="11968862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A9E83A-243A-41A4-9387-ED0130C3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3000" b="0">
                <a:solidFill>
                  <a:srgbClr val="0B1F33"/>
                </a:solidFill>
                <a:latin typeface="Calibri Light"/>
                <a:ea typeface="Calibri Light"/>
                <a:cs typeface="Calibri Light"/>
              </a:rPr>
              <a:t>DisasterNet Problem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96464CF-481C-4A01-99D7-787E8372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0704"/>
            <a:ext cx="8193024" cy="11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374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93E966E-11E1-4430-BEB5-3E02E0A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0704"/>
            <a:ext cx="64008" cy="11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992BA29-E1A1-406D-B4EF-2E71715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188719"/>
            <a:ext cx="760780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700" b="0">
                <a:solidFill>
                  <a:srgbClr val="0B1F33"/>
                </a:solidFill>
                <a:latin typeface="Calibri Light"/>
                <a:ea typeface="Calibri Light"/>
                <a:cs typeface="Calibri Light"/>
              </a:rPr>
              <a:t>Real-World Complexity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F2265E1-4B78-4E72-BA05-6F3946E9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554480"/>
            <a:ext cx="7607808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2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Teams must find urgent alerts, locate supplies, coordinate shelters and assign responders while information changes.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1E60798-785E-4802-BCD8-BC4DD3C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04288"/>
            <a:ext cx="8193024" cy="11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374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1C5E867-F2A7-4700-9F4F-47ADC437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04288"/>
            <a:ext cx="64008" cy="11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E7BA5F2-2754-4C80-9BF2-B70A8D8E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32304"/>
            <a:ext cx="760780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700" b="0">
                <a:solidFill>
                  <a:srgbClr val="0B1F33"/>
                </a:solidFill>
                <a:latin typeface="Calibri Light"/>
                <a:ea typeface="Calibri Light"/>
                <a:cs typeface="Calibri Light"/>
              </a:rPr>
              <a:t>Beyond Isolated Theory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705D7E-B146-4E70-A1B2-CC80527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98064"/>
            <a:ext cx="7607808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2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DisasterNet brings six DSA modules into a Java application for incidents, teams, shelters, resources, communications and observations.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ED7D11-BFB8-470F-8355-280E800B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547872"/>
            <a:ext cx="8193024" cy="11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374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1E6C21-351A-4414-A0A5-DA66401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547872"/>
            <a:ext cx="64008" cy="11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1B10E57-E620-41E4-80BF-30E67C27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675887"/>
            <a:ext cx="760780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700" b="0">
                <a:solidFill>
                  <a:srgbClr val="0B1F33"/>
                </a:solidFill>
                <a:latin typeface="Calibri Light"/>
                <a:ea typeface="Calibri Light"/>
                <a:cs typeface="Calibri Light"/>
              </a:rPr>
              <a:t>Core Insight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EC85E94-3464-4463-B615-669A2283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41648"/>
            <a:ext cx="7607808" cy="195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2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Use the right data structure or algorithm for each response task through shared application data.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5C6D27-11AC-4F4C-86F0-8F2FE1F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855464"/>
            <a:ext cx="3383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982579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90DC48-4B54-4A90-9BB5-8A89013C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498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Six Java DSA modules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22373D-770C-4B7F-A843-CDFF0703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chemeClr val="accent4"/>
                </a:solidFill>
              </a:rPr>
              <a:t>Algorithms used by the DisasterNet emergency coordination application</a:t>
            </a:r>
            <a:endParaRPr sz="1400"/>
          </a:p>
        </p:txBody>
      </p:sp>
      <p:sp>
        <p:nvSpPr>
          <p:cNvPr id="5" name="Module M1">
            <a:extLst xmlns:a="http://schemas.openxmlformats.org/drawingml/2006/main">
              <a:ext uri="{FF2B5EF4-FFF2-40B4-BE49-F238E27FC236}">
                <a16:creationId xmlns:a16="http://schemas.microsoft.com/office/drawing/2014/main" id="{3EF5A05C-C12B-47EA-9AFC-FE4ACB17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EF7F41-BA7D-4D90-8EAB-3143F67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8132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</a:rPr>
              <a:t>M1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F710DE9-E573-40A6-AD05-3ADA48A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99616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B6CC"/>
                </a:solidFill>
              </a:rPr>
              <a:t>CO1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0B67E68-2152-43D2-9A83-4E7B6A8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01952"/>
            <a:ext cx="2377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String matching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CADCEB"/>
                </a:solidFill>
              </a:rPr>
              <a:t>KMP · Z · Rabin–Karp · Aho–Corasick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F2C14E"/>
                </a:solidFill>
              </a:rPr>
              <a:t>Search incident alerts</a:t>
            </a:r>
            <a:endParaRPr sz="1400"/>
          </a:p>
        </p:txBody>
      </p:sp>
      <p:sp>
        <p:nvSpPr>
          <p:cNvPr id="9" name="Module M2">
            <a:extLst xmlns:a="http://schemas.openxmlformats.org/drawingml/2006/main">
              <a:ext uri="{FF2B5EF4-FFF2-40B4-BE49-F238E27FC236}">
                <a16:creationId xmlns:a16="http://schemas.microsoft.com/office/drawing/2014/main" id="{B836D455-B5DC-4CC3-A884-CFD3CEAB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7160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E4D8982-B0B4-4C06-A9D9-32B75CD8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8132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</a:rPr>
              <a:t>M2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A22CC57-ED00-4829-9858-A37A373B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99616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B6CC"/>
                </a:solidFill>
              </a:rPr>
              <a:t>CO2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A62547A-A801-4707-B892-2E31AD75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01952"/>
            <a:ext cx="2377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Suffix indexing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CADCEB"/>
                </a:solidFill>
              </a:rPr>
              <a:t>Suffix array · LCP · automaton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F2C14E"/>
                </a:solidFill>
              </a:rPr>
              <a:t>Search report text</a:t>
            </a:r>
            <a:endParaRPr sz="1400"/>
          </a:p>
        </p:txBody>
      </p:sp>
      <p:sp>
        <p:nvSpPr>
          <p:cNvPr id="13" name="Module M3">
            <a:extLst xmlns:a="http://schemas.openxmlformats.org/drawingml/2006/main">
              <a:ext uri="{FF2B5EF4-FFF2-40B4-BE49-F238E27FC236}">
                <a16:creationId xmlns:a16="http://schemas.microsoft.com/office/drawing/2014/main" id="{3E07D241-9AB3-4036-9C4B-51106ADB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D6751E8-2958-43EC-881D-D9751FC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132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</a:rPr>
              <a:t>M3</a:t>
            </a:r>
            <a:endParaRPr sz="2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243930B-20B0-4666-BE92-F89785E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499616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B6CC"/>
                </a:solidFill>
              </a:rPr>
              <a:t>CO3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0242E9-36DC-4C15-92A0-17F7B392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1952"/>
            <a:ext cx="2377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Dynamic programming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CADCEB"/>
                </a:solidFill>
              </a:rPr>
              <a:t>Edit distance · knapsack · matrix chain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F2C14E"/>
                </a:solidFill>
              </a:rPr>
              <a:t>Correct text, select supplies</a:t>
            </a:r>
            <a:endParaRPr sz="1400"/>
          </a:p>
        </p:txBody>
      </p:sp>
      <p:sp>
        <p:nvSpPr>
          <p:cNvPr id="17" name="Module M4">
            <a:extLst xmlns:a="http://schemas.openxmlformats.org/drawingml/2006/main">
              <a:ext uri="{FF2B5EF4-FFF2-40B4-BE49-F238E27FC236}">
                <a16:creationId xmlns:a16="http://schemas.microsoft.com/office/drawing/2014/main" id="{972370A1-355F-493C-ACCF-3212D396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A8F897-8515-4DA6-9BC2-2BC3369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7296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</a:rPr>
              <a:t>M4</a:t>
            </a:r>
            <a:endParaRPr sz="2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2C9DF19-2CE7-439E-99A0-DE4F7CFE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91256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B6CC"/>
                </a:solidFill>
              </a:rPr>
              <a:t>CO4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157EA61-9202-471C-8646-39C211AC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93592"/>
            <a:ext cx="2377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Flow &amp; matching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CADCEB"/>
                </a:solidFill>
              </a:rPr>
              <a:t>Ford–Fulkerson · Edmonds–Karp · Dinic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F2C14E"/>
                </a:solidFill>
              </a:rPr>
              <a:t>Route aid, assign teams</a:t>
            </a:r>
            <a:endParaRPr sz="1400"/>
          </a:p>
        </p:txBody>
      </p:sp>
      <p:sp>
        <p:nvSpPr>
          <p:cNvPr id="21" name="Module M5">
            <a:extLst xmlns:a="http://schemas.openxmlformats.org/drawingml/2006/main">
              <a:ext uri="{FF2B5EF4-FFF2-40B4-BE49-F238E27FC236}">
                <a16:creationId xmlns:a16="http://schemas.microsoft.com/office/drawing/2014/main" id="{245ED349-B0B8-4043-AFBD-077969B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06324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63F770F-BFA9-4F02-8AD8-A2127A2D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17296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</a:rPr>
              <a:t>M5</a:t>
            </a:r>
            <a:endParaRPr sz="2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85C8FB8-EEE2-41E8-88AD-EA9FA57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91256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B6CC"/>
                </a:solidFill>
              </a:rPr>
              <a:t>CO5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B3A3064-7BD4-4EE1-A0DF-EAF9F4FF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93592"/>
            <a:ext cx="2377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Complexity &amp; reductions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CADCEB"/>
                </a:solidFill>
              </a:rPr>
              <a:t>SAT · 3-SAT→CLIQUE · IS · VC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F2C14E"/>
                </a:solidFill>
              </a:rPr>
              <a:t>Study hard constraints</a:t>
            </a:r>
            <a:endParaRPr sz="1400"/>
          </a:p>
        </p:txBody>
      </p:sp>
      <p:sp>
        <p:nvSpPr>
          <p:cNvPr id="25" name="Module M6">
            <a:extLst xmlns:a="http://schemas.openxmlformats.org/drawingml/2006/main">
              <a:ext uri="{FF2B5EF4-FFF2-40B4-BE49-F238E27FC236}">
                <a16:creationId xmlns:a16="http://schemas.microsoft.com/office/drawing/2014/main" id="{C0169146-01A8-4D92-8A73-18A7B1B2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6324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3890986-CDE6-43FD-A3CB-6B69F025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7296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</a:rPr>
              <a:t>M6</a:t>
            </a:r>
            <a:endParaRPr sz="2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80983DD-17B2-462D-9B9E-7E486AB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191256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B6CC"/>
                </a:solidFill>
              </a:rPr>
              <a:t>CO6</a:t>
            </a:r>
            <a:endParaRPr sz="1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5568A56-DD89-46F0-9B7B-07888315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93592"/>
            <a:ext cx="2377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Randomized &amp; parallel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CADCEB"/>
                </a:solidFill>
              </a:rPr>
              <a:t>QuickSort · sampling · primality · scan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F2C14E"/>
                </a:solidFill>
              </a:rPr>
              <a:t>Process observation data</a:t>
            </a:r>
            <a:endParaRPr sz="1400"/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D4D7F48-52F6-4BE3-87D3-E6D2332CD7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r>
              <a:rPr sz="900">
                <a:solidFill>
                  <a:srgbClr val="25374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8021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019940-59BF-4578-B884-1FD57959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80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27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Module 1 · Incident 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22EFB8-3727-4446-988B-0C3E9A1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528"/>
            <a:ext cx="8046720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Find keywords and alert patterns in response records</a:t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2833999-0D24-41FD-9BDF-F930EBB4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0B1F33"/>
                </a:solidFill>
              </a:rPr>
              <a:t>M1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9693C531-5ED2-4C31-BAE7-5941B54C540C}"/>
              </a:ext>
            </a:extLst>
          </p:cNvPr>
          <p:cNvGraphicFramePr/>
          <p:nvPr/>
        </p:nvGraphicFramePr>
        <p:xfrm>
          <a:off xmlns:a="http://schemas.openxmlformats.org/drawingml/2006/main" x="457200" y="1252728"/>
          <a:ext xmlns:a="http://schemas.openxmlformats.org/drawingml/2006/main" cx="8229600" cy="2514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624"/>
                <a:gridCol w="3332988"/>
                <a:gridCol w="3332988"/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DisasterNet use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KMP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Prefix table search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One alert keyword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Z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Prefix matches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Compare report text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Rabin-Karp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Rolling hash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Search one term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Aho-Corasick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Trie plus failure links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Search many alert terms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Trie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Prefix tree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Term lookup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4EDA3F-92F7-4435-925A-1AEE576D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429768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7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Implemented string algorithms; no timing comparison claimed.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E6EDB6-F78E-4CD4-8FBA-CA6846A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886200"/>
            <a:ext cx="3657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7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Single &amp; multi-pattern search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D1A84BD-BDE2-44AD-A44D-56C1A7A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224528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KMP, Z and Rabin–Karp search one pattern; Aho–Corasick searches many patterns in one pass.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F1192F-5078-48BC-8AB5-89E8FB5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855464"/>
            <a:ext cx="3383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graphicFrame>
        <p:nvGraphicFramePr>
          <p:cNvPr id="12" name="Table 11">
            <a:extLst xmlns:a="http://schemas.openxmlformats.org/drawingml/2006/main">
              <a:ext uri="{FF2B5EF4-FFF2-40B4-BE49-F238E27FC236}">
                <a16:creationId xmlns:a16="http://schemas.microsoft.com/office/drawing/2014/main" id="{099E2F2E-9232-4111-818D-C5B97481CA32}"/>
              </a:ext>
            </a:extLst>
          </p:cNvPr>
          <p:cNvGraphicFramePr/>
          <p:nvPr/>
        </p:nvGraphicFramePr>
        <p:xfrm>
          <a:off xmlns:a="http://schemas.openxmlformats.org/drawingml/2006/main" x="457200" y="3886200"/>
          <a:ext xmlns:a="http://schemas.openxmlformats.org/drawingml/2006/main" cx="4297680" cy="8503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859536"/>
                <a:gridCol w="859536"/>
                <a:gridCol w="859536"/>
                <a:gridCol w="859536"/>
              </a:tblGrid>
              <a:tr h="21259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Seeded data</a:t>
                      </a:r>
                    </a:p>
                  </a:txBody>
                  <a:tcPr marL="38100" marR="38100" marT="12700" marB="127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8100" marR="38100" marT="12700" marB="127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38100" marR="38100" marT="12700" marB="127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0B1F33"/>
                    </a:solidFill>
                  </a:tcPr>
                </a:tc>
              </a:tr>
              <a:tr h="2125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>Incidents</a:t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>20</a:t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</a:tr>
              <a:tr h="2125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>Rescue teams</a:t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>10</a:t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</a:tr>
              <a:tr h="2125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>Shelters</a:t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>10</a:t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3746"/>
                          </a:solidFill>
                        </a:rPr>
                        <a:t/>
                      </a:r>
                    </a:p>
                  </a:txBody>
                  <a:tcPr marL="38100" marR="38100" marT="12700" marB="1270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5726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85D33D-B53C-4094-B69A-FFA9C21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498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Module 2 · Report indexing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45A090-3AC9-425C-8DFA-E8F58DF7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chemeClr val="accent4"/>
                </a:solidFill>
              </a:rPr>
              <a:t>Build text indexes for repeated substring queries</a:t>
            </a:r>
            <a:endParaRPr sz="1400"/>
          </a:p>
        </p:txBody>
      </p:sp>
      <p:sp>
        <p:nvSpPr>
          <p:cNvPr id="4" name="Badge">
            <a:extLst xmlns:a="http://schemas.openxmlformats.org/drawingml/2006/main">
              <a:ext uri="{FF2B5EF4-FFF2-40B4-BE49-F238E27FC236}">
                <a16:creationId xmlns:a16="http://schemas.microsoft.com/office/drawing/2014/main" id="{B0CB8503-1A15-46E4-A800-93CB0161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432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FC2C10-C7EB-4098-B6E8-31953FFA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432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tx1"/>
                </a:solidFill>
              </a:rPr>
              <a:t>M2</a:t>
            </a:r>
            <a:endParaRPr sz="1500"/>
          </a:p>
        </p:txBody>
      </p:sp>
      <p:sp>
        <p:nvSpPr>
          <p:cNvPr id="7" name="Card Suffix array">
            <a:extLst xmlns:a="http://schemas.openxmlformats.org/drawingml/2006/main">
              <a:ext uri="{FF2B5EF4-FFF2-40B4-BE49-F238E27FC236}">
                <a16:creationId xmlns:a16="http://schemas.microsoft.com/office/drawing/2014/main" id="{7CDE2390-961C-493F-92FE-4C6E247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5880"/>
            <a:ext cx="48463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2700">
            <a:solidFill>
              <a:srgbClr val="EEF2F6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3173AF9-C0B1-467B-9A8A-5DD766F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462686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</a:rPr>
              <a:t>Suffix array</a:t>
            </a:r>
            <a:r>
              <a:rPr sz="1100" i="1">
                <a:solidFill>
                  <a:srgbClr val="4A6580"/>
                </a:solidFill>
              </a:rPr>
              <a:t>   O(n log² n) doubling → O(n) SA-IS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1FA2A6"/>
                </a:solidFill>
              </a:rPr>
              <a:t>How: </a:t>
            </a:r>
            <a:r>
              <a:rPr sz="1200">
                <a:solidFill>
                  <a:srgbClr val="1B2B3C"/>
                </a:solidFill>
              </a:rPr>
              <a:t>Sorted list of every suffix start; SA-IS builds it in linear time.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B97F00"/>
                </a:solidFill>
              </a:rPr>
              <a:t>Why: </a:t>
            </a:r>
            <a:r>
              <a:rPr sz="1200">
                <a:solidFill>
                  <a:srgbClr val="1B2B3C"/>
                </a:solidFill>
              </a:rPr>
              <a:t>Index flight/airport documents; any substring query becomes a binary search, O(m log n).</a:t>
            </a:r>
            <a:endParaRPr sz="1400"/>
          </a:p>
        </p:txBody>
      </p:sp>
      <p:sp>
        <p:nvSpPr>
          <p:cNvPr id="9" name="Card Kasai LCP">
            <a:extLst xmlns:a="http://schemas.openxmlformats.org/drawingml/2006/main">
              <a:ext uri="{FF2B5EF4-FFF2-40B4-BE49-F238E27FC236}">
                <a16:creationId xmlns:a16="http://schemas.microsoft.com/office/drawing/2014/main" id="{1327516D-C425-4509-A419-DD8694A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48463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2700">
            <a:solidFill>
              <a:srgbClr val="EEF2F6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D05EEF2-34FF-4E0A-8963-91251E6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462686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</a:rPr>
              <a:t>Kasai LCP</a:t>
            </a:r>
            <a:r>
              <a:rPr sz="1100" i="1">
                <a:solidFill>
                  <a:srgbClr val="4A6580"/>
                </a:solidFill>
              </a:rPr>
              <a:t>   O(n)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1FA2A6"/>
                </a:solidFill>
              </a:rPr>
              <a:t>How: </a:t>
            </a:r>
            <a:r>
              <a:rPr sz="1200">
                <a:solidFill>
                  <a:srgbClr val="1B2B3C"/>
                </a:solidFill>
              </a:rPr>
              <a:t>Longest common prefix of neighbouring suffixes, in one amortised pass.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B97F00"/>
                </a:solidFill>
              </a:rPr>
              <a:t>Why: </a:t>
            </a:r>
            <a:r>
              <a:rPr sz="1200">
                <a:solidFill>
                  <a:srgbClr val="1B2B3C"/>
                </a:solidFill>
              </a:rPr>
              <a:t>Finds the longest repeated text, e.g. repeated descriptions ("ana" in "banana").</a:t>
            </a:r>
            <a:endParaRPr sz="1400"/>
          </a:p>
        </p:txBody>
      </p:sp>
      <p:sp>
        <p:nvSpPr>
          <p:cNvPr id="11" name="Card Suffix automaton">
            <a:extLst xmlns:a="http://schemas.openxmlformats.org/drawingml/2006/main">
              <a:ext uri="{FF2B5EF4-FFF2-40B4-BE49-F238E27FC236}">
                <a16:creationId xmlns:a16="http://schemas.microsoft.com/office/drawing/2014/main" id="{928F98E3-95DA-4874-A95A-7FA0FB3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48463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2700">
            <a:solidFill>
              <a:srgbClr val="EEF2F6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1CF8D96-3ED6-40D5-9643-17BB02DF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462686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</a:rPr>
              <a:t>Suffix automaton</a:t>
            </a:r>
            <a:r>
              <a:rPr sz="1100" i="1">
                <a:solidFill>
                  <a:srgbClr val="4A6580"/>
                </a:solidFill>
              </a:rPr>
              <a:t>   O(n) online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1FA2A6"/>
                </a:solidFill>
              </a:rPr>
              <a:t>How: </a:t>
            </a:r>
            <a:r>
              <a:rPr sz="1200">
                <a:solidFill>
                  <a:srgbClr val="1B2B3C"/>
                </a:solidFill>
              </a:rPr>
              <a:t>Smallest automaton accepting every substring of the text.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B97F00"/>
                </a:solidFill>
              </a:rPr>
              <a:t>Why: </a:t>
            </a:r>
            <a:r>
              <a:rPr sz="1200">
                <a:solidFill>
                  <a:srgbClr val="1B2B3C"/>
                </a:solidFill>
              </a:rPr>
              <a:t>Instant "does this text appear?" queries and distinct-substring counts.</a:t>
            </a:r>
            <a:endParaRPr sz="1400"/>
          </a:p>
        </p:txBody>
      </p:sp>
      <p:graphicFrame>
        <p:nvGraphicFramePr>
          <p:cNvPr id="13" name="Chart 0">
            <a:extLst xmlns:a="http://schemas.openxmlformats.org/drawingml/2006/main">
              <a:ext uri="{FF2B5EF4-FFF2-40B4-BE49-F238E27FC236}">
                <a16:creationId xmlns:a16="http://schemas.microsoft.com/office/drawing/2014/main" id="{EE236B80-AFA0-4B84-B9BA-1A0AF05A9589}"/>
              </a:ext>
            </a:extLst>
          </p:cNvPr>
          <p:cNvGraphicFramePr/>
          <p:nvPr/>
        </p:nvGraphicFramePr>
        <p:xfrm>
          <a:off xmlns:a="http://schemas.openxmlformats.org/drawingml/2006/main" x="5486400" y="1325880"/>
          <a:ext xmlns:a="http://schemas.openxmlformats.org/drawingml/2006/main" cx="3200400" cy="3383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bbc56a1beb48d4"/>
          </a:graphicData>
        </a:graphic>
      </p:graphicFrame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0A41F70-C35D-4660-86F8-37412C1F1A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r>
              <a:rPr sz="900">
                <a:solidFill>
                  <a:srgbClr val="25374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402393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2A3D86-786E-47A5-A6AC-689D3BA8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80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27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Module 3 · Dynamic programming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F635BAD-76AD-4DCA-AC94-44B5DEF3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528"/>
            <a:ext cx="8046720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Correct entered text and choose resources under a capacity limit</a:t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F6971876-D45A-4863-AA62-B763E9C4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0B1F33"/>
                </a:solidFill>
              </a:rPr>
              <a:t>M3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190D88-84E5-4134-B0EA-88E7C86E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5296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Fixing and comparing text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C544C1-86EA-4412-9EE1-3D5E07C5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225296"/>
            <a:ext cx="4005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Optimising choices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58E810DD-4D27-4109-BBBB-EE9A80C947D3}"/>
              </a:ext>
            </a:extLst>
          </p:cNvPr>
          <p:cNvGraphicFramePr/>
          <p:nvPr/>
        </p:nvGraphicFramePr>
        <p:xfrm>
          <a:off xmlns:a="http://schemas.openxmlformats.org/drawingml/2006/main" x="457200" y="1609344"/>
          <a:ext xmlns:a="http://schemas.openxmlformats.org/drawingml/2006/main" cx="4005071" cy="320954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268"/>
                <a:gridCol w="1441825"/>
                <a:gridCol w="1561978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DisasterNet use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Levenshtein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Insertion/deletion/substitution DP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Rank text corrections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Damerau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Adds adjacent transposition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Correct mistyped terms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Weighted edit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Configured operation costs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Compare text variants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Alignment algorithms are not implemented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>
            <a:extLst xmlns:a="http://schemas.openxmlformats.org/drawingml/2006/main">
              <a:ext uri="{FF2B5EF4-FFF2-40B4-BE49-F238E27FC236}">
                <a16:creationId xmlns:a16="http://schemas.microsoft.com/office/drawing/2014/main" id="{8DA0A898-6377-4A79-A55B-C38DF0BBED54}"/>
              </a:ext>
            </a:extLst>
          </p:cNvPr>
          <p:cNvGraphicFramePr/>
          <p:nvPr/>
        </p:nvGraphicFramePr>
        <p:xfrm>
          <a:off xmlns:a="http://schemas.openxmlformats.org/drawingml/2006/main" x="4681728" y="1609344"/>
          <a:ext xmlns:a="http://schemas.openxmlformats.org/drawingml/2006/main" cx="4005071" cy="320954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217"/>
                <a:gridCol w="1481876"/>
                <a:gridCol w="1561978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DisasterNet use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0/1 knapsack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Capacity-constrained DP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Select resources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Matrix-chain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Interval DP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Order matrix operations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SOS DP is not implemented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Optimal BST is not implemented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588E061-21DA-47D1-8B59-F8A3B19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855464"/>
            <a:ext cx="3383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11132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1BBE6A6-4B77-4A82-8AC9-9B340A26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80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27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Module 4 · Flow &amp; team matching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5231C72-2086-460F-964F-5AB2E5B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528"/>
            <a:ext cx="8046720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Model relief movement and assign rescue teams to response needs</a:t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A74AD920-E65D-437B-B7B4-C5FFB7DA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0B1F33"/>
                </a:solidFill>
              </a:rPr>
              <a:t>M4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87AC2AC-277E-4261-B13F-92B1CA96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8971" y="1576608"/>
            <a:ext cx="2286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CDF5E06-971F-427C-A3C1-E25B0D62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63694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300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0F475A2-C319-4045-8235-AB1F9D0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" y="2086843"/>
            <a:ext cx="2286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8EA7C5D-AB13-4490-8FF6-95D8E1A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73929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120</a:t>
            </a:r>
            <a:endParaRPr sz="1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698EFDE-EF56-4967-9B88-CD38D05D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576608"/>
            <a:ext cx="2286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4D3B603-D917-4D72-980B-6C12AF18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492" y="1763694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220</a:t>
            </a:r>
            <a:endParaRPr sz="1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200D669-9397-4D49-B974-15C77B71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27632" y="2086843"/>
            <a:ext cx="2286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1046CF5-8950-4E95-B6B7-59EC02C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492" y="2273929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120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E2EB484-B553-42E8-8D6D-46737A1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36292" y="1576608"/>
            <a:ext cx="2286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418189A-AFD2-4416-932C-41F08AC2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763694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180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711E78F-285E-471B-8E47-3A69CDD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292" y="2086843"/>
            <a:ext cx="2286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37A696E-24B4-491E-8DE0-B22F9988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273929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160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836335F-BB3F-41EE-BB92-E5B7A94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157660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A658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92B1DA4-FB9C-401C-97CE-E8F9678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1508577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150</a:t>
            </a:r>
            <a:endParaRPr sz="1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3DADC0F-513A-4C60-8A1D-9A2B212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44952" y="2086843"/>
            <a:ext cx="102870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4572E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C1F9A1F-1826-4645-819C-7A0B7CB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862" y="2273929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E4572E"/>
                </a:solidFill>
              </a:rPr>
              <a:t>140</a:t>
            </a:r>
            <a:endParaRPr sz="1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31BDAF0-1171-471B-8202-4483A61B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612" y="1576608"/>
            <a:ext cx="320040" cy="510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4572E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4E3A2A4-FF24-4B66-B4FC-F843D63D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1763694"/>
            <a:ext cx="182880" cy="13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E4572E"/>
                </a:solidFill>
              </a:rPr>
              <a:t>130</a:t>
            </a:r>
            <a:endParaRPr sz="1000"/>
          </a:p>
        </p:txBody>
      </p:sp>
      <p:sp>
        <p:nvSpPr>
          <p:cNvPr id="25" name="Node Entrance">
            <a:extLst xmlns:a="http://schemas.openxmlformats.org/drawingml/2006/main">
              <a:ext uri="{FF2B5EF4-FFF2-40B4-BE49-F238E27FC236}">
                <a16:creationId xmlns:a16="http://schemas.microsoft.com/office/drawing/2014/main" id="{57214CB3-478A-4A1A-860F-2BA42080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67788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D6F38D0-E64D-4C1F-9D3C-73CED48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67788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</a:rPr>
              <a:t>Entrance</a:t>
            </a:r>
            <a:endParaRPr sz="1000"/>
          </a:p>
        </p:txBody>
      </p:sp>
      <p:sp>
        <p:nvSpPr>
          <p:cNvPr id="27" name="Node CheckIn">
            <a:extLst xmlns:a="http://schemas.openxmlformats.org/drawingml/2006/main">
              <a:ext uri="{FF2B5EF4-FFF2-40B4-BE49-F238E27FC236}">
                <a16:creationId xmlns:a16="http://schemas.microsoft.com/office/drawing/2014/main" id="{606E648B-1E28-4957-85E6-910F8EFC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" y="1457553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18C4EF4-0E8A-47E2-8BBF-8FD0A1FC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" y="1457553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</a:rPr>
              <a:t>CheckIn</a:t>
            </a:r>
            <a:endParaRPr sz="1000"/>
          </a:p>
        </p:txBody>
      </p:sp>
      <p:sp>
        <p:nvSpPr>
          <p:cNvPr id="29" name="Node SelfKiosk">
            <a:extLst xmlns:a="http://schemas.openxmlformats.org/drawingml/2006/main">
              <a:ext uri="{FF2B5EF4-FFF2-40B4-BE49-F238E27FC236}">
                <a16:creationId xmlns:a16="http://schemas.microsoft.com/office/drawing/2014/main" id="{19E45807-F99E-4833-959A-0E983540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" y="2478024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95212F6-0830-4824-8C24-5DAEEAC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" y="2478024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</a:rPr>
              <a:t>SelfKiosk</a:t>
            </a:r>
            <a:endParaRPr sz="1000"/>
          </a:p>
        </p:txBody>
      </p:sp>
      <p:sp>
        <p:nvSpPr>
          <p:cNvPr id="31" name="Node Security">
            <a:extLst xmlns:a="http://schemas.openxmlformats.org/drawingml/2006/main">
              <a:ext uri="{FF2B5EF4-FFF2-40B4-BE49-F238E27FC236}">
                <a16:creationId xmlns:a16="http://schemas.microsoft.com/office/drawing/2014/main" id="{57756BB4-B4D9-48EB-9330-CBEB937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1967788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B9EFD3B-4D66-4646-84A6-8B0F06E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1967788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</a:rPr>
              <a:t>Security</a:t>
            </a:r>
            <a:endParaRPr sz="1000"/>
          </a:p>
        </p:txBody>
      </p:sp>
      <p:sp>
        <p:nvSpPr>
          <p:cNvPr id="33" name="Node Immigration">
            <a:extLst xmlns:a="http://schemas.openxmlformats.org/drawingml/2006/main">
              <a:ext uri="{FF2B5EF4-FFF2-40B4-BE49-F238E27FC236}">
                <a16:creationId xmlns:a16="http://schemas.microsoft.com/office/drawing/2014/main" id="{2C7CD00E-8705-4010-A6D2-27ED141F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892" y="1457553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2B2D350-E038-486C-9BA6-E5C8330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892" y="1457553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 b="1">
                <a:solidFill>
                  <a:srgbClr val="FFFFFF"/>
                </a:solidFill>
              </a:rPr>
              <a:t>Immigration</a:t>
            </a:r>
            <a:endParaRPr sz="1000"/>
          </a:p>
        </p:txBody>
      </p:sp>
      <p:sp>
        <p:nvSpPr>
          <p:cNvPr id="35" name="Node DomesticGates">
            <a:extLst xmlns:a="http://schemas.openxmlformats.org/drawingml/2006/main">
              <a:ext uri="{FF2B5EF4-FFF2-40B4-BE49-F238E27FC236}">
                <a16:creationId xmlns:a16="http://schemas.microsoft.com/office/drawing/2014/main" id="{C69ED6D4-AF9C-43A2-AD99-8B139969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892" y="2478024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A882A15-21D5-48D3-8470-0778FA61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892" y="2478024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 b="1">
                <a:solidFill>
                  <a:srgbClr val="FFFFFF"/>
                </a:solidFill>
              </a:rPr>
              <a:t>DomesticGates</a:t>
            </a:r>
            <a:endParaRPr sz="1000"/>
          </a:p>
        </p:txBody>
      </p:sp>
      <p:sp>
        <p:nvSpPr>
          <p:cNvPr id="37" name="Node IntlGates">
            <a:extLst xmlns:a="http://schemas.openxmlformats.org/drawingml/2006/main">
              <a:ext uri="{FF2B5EF4-FFF2-40B4-BE49-F238E27FC236}">
                <a16:creationId xmlns:a16="http://schemas.microsoft.com/office/drawing/2014/main" id="{1BF9B3A8-B92C-4CF8-AFB2-64E907CE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57553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51AA2574-8258-4FBB-956E-5810B7E2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57553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</a:rPr>
              <a:t>IntlGates</a:t>
            </a:r>
            <a:endParaRPr sz="1000"/>
          </a:p>
        </p:txBody>
      </p:sp>
      <p:sp>
        <p:nvSpPr>
          <p:cNvPr id="39" name="Node Aircraft">
            <a:extLst xmlns:a="http://schemas.openxmlformats.org/drawingml/2006/main">
              <a:ext uri="{FF2B5EF4-FFF2-40B4-BE49-F238E27FC236}">
                <a16:creationId xmlns:a16="http://schemas.microsoft.com/office/drawing/2014/main" id="{BDA83310-6399-410F-BC90-13F0F5E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1967788"/>
            <a:ext cx="480060" cy="238109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BE4209C1-3EBE-4F79-9838-F6D268E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1967788"/>
            <a:ext cx="480060" cy="238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1F33"/>
                </a:solidFill>
              </a:rPr>
              <a:t>Aircraft</a:t>
            </a:r>
            <a:endParaRPr sz="1000"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8FA1091A-D129-42C9-B514-73A84418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3977639" cy="129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Illustrative supply network · capacities shown in model units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BC5DB76C-C603-407B-9740-61C2F02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0360"/>
            <a:ext cx="3886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Max flow finds the greatest feasible transfer. A minimum cut identifies links that limit the modeled network.</a:t>
            </a:r>
          </a:p>
        </p:txBody>
      </p:sp>
      <p:graphicFrame>
        <p:nvGraphicFramePr>
          <p:cNvPr id="43" name="Table 42">
            <a:extLst xmlns:a="http://schemas.openxmlformats.org/drawingml/2006/main">
              <a:ext uri="{FF2B5EF4-FFF2-40B4-BE49-F238E27FC236}">
                <a16:creationId xmlns:a16="http://schemas.microsoft.com/office/drawing/2014/main" id="{8BC848FA-C32A-454F-8DD6-A6DEFBC46450}"/>
              </a:ext>
            </a:extLst>
          </p:cNvPr>
          <p:cNvGraphicFramePr/>
          <p:nvPr/>
        </p:nvGraphicFramePr>
        <p:xfrm>
          <a:off xmlns:a="http://schemas.openxmlformats.org/drawingml/2006/main" x="4599432" y="1261872"/>
          <a:ext xmlns:a="http://schemas.openxmlformats.org/drawingml/2006/main" cx="4087367" cy="19385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210"/>
                <a:gridCol w="2861157"/>
              </a:tblGrid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 / purpose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Ford–Fulkerson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Augmenting paths for max flow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Edmonds–Karp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BFS augmenting paths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Dinic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9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Level graph and blocking flow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07DA548-95B2-4C7B-81C7-21E7065D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374136"/>
            <a:ext cx="40873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277 nodes / 3,047 edges: FF 100.09 ms; EK 116.58 ms; Dinic 6.14 ms (≈16–19× faster).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F3CC87F4-E9FD-4126-AC36-FF401A63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265176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95CA2EB-4975-451D-B6B5-F252BE00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8184"/>
            <a:ext cx="24323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8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Bipartite matching · Kuhn O(VE)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D8D5C7F-B71A-4689-9072-21C85EE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14215"/>
            <a:ext cx="2432304" cy="731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Augmenting paths in a flights ↔ gates graph.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A flight fits a gate only if gate size ≥ flight size (S, M, L); matching assigns as many flights as possible.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AEF56E9B-2C64-484C-B8B2-48345E4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685032"/>
            <a:ext cx="265176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3A1AE0A-580B-4582-B54B-F7C4BF90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758184"/>
            <a:ext cx="24323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8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König's theorem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247B2A22-0379-4437-A6C2-49FC00F8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4215"/>
            <a:ext cx="2432304" cy="731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In a bipartite graph, min vertex cover equals max matching.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Gives the smallest set of flights or gates touching every conflict; checked on 150 random graphs.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0B44BC2-957A-483C-9093-8CEA26D3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85032"/>
            <a:ext cx="265176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DEC13DDC-D7BE-48F8-AE64-C6F5B836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758184"/>
            <a:ext cx="24323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8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Min-cut = max-flow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40FBC993-7B71-406F-B30D-E923DCD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014215"/>
            <a:ext cx="2432304" cy="731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Cheapest set of links whose removal stops all flow.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8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Names the critical connections in the passenger network.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553FCE5-218A-4F42-B0F4-CB00805C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855464"/>
            <a:ext cx="3383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0599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BE8D5F-DE9F-4545-8AB9-CBA20974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80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27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Module 5 · Hard constraints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44F3BC-D300-423B-8B0A-2C2115B7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528"/>
            <a:ext cx="8046720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Explore satisfiability, graph reductions and approximation</a:t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E6B1900-18D0-4577-A166-4E3E0739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0B1F33"/>
                </a:solidFill>
              </a:rPr>
              <a:t>M5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FA3AF3-9BAC-4BDA-9FF6-2A417626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49961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50DCA9-AEFB-4B2E-A724-8752A077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71600"/>
            <a:ext cx="1353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3-SAT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4900BF-7872-4D53-8C4C-1FE76E3F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149961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Gate / scheduling rules as clauses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A33C00-CF8F-44AB-85A8-771ABC07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1380744"/>
            <a:ext cx="16459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07832EC-0CC0-4901-A18B-4747A081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280160"/>
            <a:ext cx="149961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933D14-3F44-4DB1-BAE6-E342F6F9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1371600"/>
            <a:ext cx="1353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CLIQUE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5548505-D02D-4357-AFD5-4087503C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783080"/>
            <a:ext cx="149961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Satisfiable ⇔ clique of size k = #clauses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C17159-A6F0-493E-98C2-CFA0604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80744"/>
            <a:ext cx="16459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8CD05F-F6A3-4239-B88E-AC2C63FC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1280160"/>
            <a:ext cx="149961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A37E2A-ED93-4D21-9D84-81A21159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1371600"/>
            <a:ext cx="1353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INDEPENDENT SET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ECF8EA-8F93-466B-BBFC-F688E2D0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1783080"/>
            <a:ext cx="149961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Clique in the complement graph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6D13C5F-1CC3-4521-B33B-6E0151A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1380744"/>
            <a:ext cx="16459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F0CB20-8439-4BD9-A9E6-FA36D458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280160"/>
            <a:ext cx="149961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B80BA5E-E19F-4465-BAE9-2EEF19D0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371600"/>
            <a:ext cx="1353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VERTEX COVER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65DE956-156D-4D14-8AA9-94658322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783080"/>
            <a:ext cx="149961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V ∖ independent set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D8180C1-AE3E-4B08-B97E-DB27B130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1380744"/>
            <a:ext cx="16459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BD76189-BB79-453B-BB4E-F6DE701B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280160"/>
            <a:ext cx="149961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E3BB58-68E5-4A82-8907-0CDCB89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371600"/>
            <a:ext cx="1353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2-APPROX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04A29F-2EA7-4C72-9DFE-34B002F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783080"/>
            <a:ext cx="149961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Maximal matching; both endpoints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DDF9C1-41D6-4D7A-A28C-1E7F202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2651760" cy="144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01BB969-2F0D-43D8-817E-76F286D6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2432304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SAT / 3-SAT · brute force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9F057C4-3CA0-4F66-8883-C07846F8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2432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Enumerate assignments for small formulas to demonstrate satisfiability and exhaustive-search growth.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209DD67-E66F-4CA3-AE61-33B8ED7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95728"/>
            <a:ext cx="2651760" cy="144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CD68B88-1F4B-4871-8C3D-7E06849D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468880"/>
            <a:ext cx="24323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Reductions   CLIQUE · IS · VC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66C47AD-DEDC-4BE0-ACCB-A5146A7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724912"/>
            <a:ext cx="2432304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Transform one problem into another in polynomial time.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Models operational conflicts as graphs: a conflict-free set of flights is an independent set; a set covering all conflicts is a vertex cover.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1A7B3CF-D594-4B99-90EE-F9C9BE1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95728"/>
            <a:ext cx="2651760" cy="144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1F43837-152F-48B7-8A06-5583F2C7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68880"/>
            <a:ext cx="2432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Vertex-cover 2-approximation   fast, |C| ≤ 2·OPT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BB344D3-E30B-4EEC-9709-297F481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852928"/>
            <a:ext cx="2432304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Pick an uncovered edge, take both endpoints, repeat (maximal matching).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Covers critical connections quickly with a guaranteed bound: matching edges are disjoint, and any cover needs one endpoint of each.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02171F3E-A677-41D7-82DB-627BFFF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8229600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11B2128-806A-4155-92C4-9517C21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123944"/>
            <a:ext cx="7973568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Implemented scope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The project includes brute-force SAT, 3-SAT-to-CLIQUE, independent-set and vertex-cover routines, and a 2-approximation. It does not claim DPLL.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ED5ACC0-6E58-47B3-AB6C-8788FCC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855464"/>
            <a:ext cx="3383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122508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282CDD-F486-4032-953D-72C41CE6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80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27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Module 6 · Randomized &amp; parallel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ED304B-A8D1-4852-8F6C-BFACA90C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528"/>
            <a:ext cx="8046720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Use sampling, probabilistic checks and parallel data operations</a:t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6E0750D-90D3-449F-B48E-994EFD6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0B1F33"/>
                </a:solidFill>
              </a:rPr>
              <a:t>M6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DCC077-33FC-4ECD-A249-874E2699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886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Randomized algorithms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0DD643-DE0F-4BCC-BFD0-D01A8CA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234440"/>
            <a:ext cx="4005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Parallel algorithms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5E0CE0-D1B8-4CB3-AABE-664A702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00507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CE5E99-FCEE-4285-8009-3E27E34D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73352"/>
            <a:ext cx="378561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2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Randomized QuickSort · expected O(n log n)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EC3BC41-0396-476F-9211-73F9DB6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9384"/>
            <a:ext cx="378561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19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7,998,000 → 51,876 comparisons on already-sorted input (n = 4,000).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19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Random pivots defeat pre-sorted or adversarial flight records when ranking.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A5245AC-0F32-4262-A535-9ED2FDC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4328"/>
            <a:ext cx="400507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118333-24DD-4A77-AD19-B93E984B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378561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2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Reservoir sampling · O(k) memory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0BA4DD-EBC6-4E7C-81AE-39354A4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53512"/>
            <a:ext cx="378561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19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k / N chance each item is kept, verified uniform.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19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Event streams never end and cannot be stored; keep a fair sample of size k.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A9B0866-2134-4AE2-8458-FB7059E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456"/>
            <a:ext cx="400507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B3D1FD8-DA1B-4753-BEE0-62033239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21608"/>
            <a:ext cx="378561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12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Miller-Rabin · probabilistic prime test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E479F1-6190-4095-9E39-FA737C32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7639"/>
            <a:ext cx="378561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19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561 (Carmichael) correctly found composite; 2⁶¹−1 prime.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1019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Large-number processing where trial division is far too slow.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0C2094A-0280-4B59-9991-114552D9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00200"/>
            <a:ext cx="400507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9889090-0940-46E4-AAA1-CB085BB3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1673352"/>
            <a:ext cx="378561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Blelloch scan   work O(n), span O(log n)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AC929A1-94D8-4200-B0D5-B456451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1929384"/>
            <a:ext cx="3785615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Parallel prefix sum: up-sweep then down-sweep.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Cumulative passenger counts in O(log n) parallel steps.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2BD8CD-BA2D-46CC-BC00-37AC0505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313432"/>
            <a:ext cx="400507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8944C9-91F7-4EFC-B086-2A575282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386584"/>
            <a:ext cx="378561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Parallel reduce   pool · fork/join · tree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E351EF0-5DD2-4F06-A833-0EA51157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642616"/>
            <a:ext cx="3785615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Split the data, combine partial results.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Transport statistics over big data (50M-element sum tested).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2A478CC-83E8-4D22-A138-BEEF9BD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026664"/>
            <a:ext cx="400507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8B1FA0B-D1CC-4F34-BE70-4034C90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099816"/>
            <a:ext cx="378561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Brent's theorem   T_p ≤ W/p + D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FE3BCD8-2C64-4FDC-96D2-532ADF9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355848"/>
            <a:ext cx="3785615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How: Bounds time from total work W and span D.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Why: Predicts parallel speed-up without running the code.</a:t>
            </a:r>
          </a:p>
        </p:txBody>
      </p:sp>
      <p:graphicFrame>
        <p:nvGraphicFramePr>
          <p:cNvPr id="25" name="Table 24">
            <a:extLst xmlns:a="http://schemas.openxmlformats.org/drawingml/2006/main">
              <a:ext uri="{FF2B5EF4-FFF2-40B4-BE49-F238E27FC236}">
                <a16:creationId xmlns:a16="http://schemas.microsoft.com/office/drawing/2014/main" id="{780169F9-83CF-43FA-9161-DD91D02FD361}"/>
              </a:ext>
            </a:extLst>
          </p:cNvPr>
          <p:cNvGraphicFramePr/>
          <p:nvPr/>
        </p:nvGraphicFramePr>
        <p:xfrm>
          <a:off xmlns:a="http://schemas.openxmlformats.org/drawingml/2006/main" x="4681728" y="3803904"/>
          <a:ext xmlns:a="http://schemas.openxmlformats.org/drawingml/2006/main" cx="4005070" cy="7040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963"/>
                <a:gridCol w="961217"/>
                <a:gridCol w="600760"/>
                <a:gridCol w="841065"/>
                <a:gridCol w="841065"/>
              </a:tblGrid>
              <a:tr h="17602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</a:t>
                      </a:r>
                    </a:p>
                  </a:txBody>
                  <a:tcPr marL="63500" marR="63500" marT="50800" marB="38100">
                    <a:solidFill>
                      <a:srgbClr val="0B1F33"/>
                    </a:solidFill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QuickSort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Sort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Records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Ordered list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Random pivot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Reservoir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Sample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Stream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k items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Bounded memory</a:t>
                      </a:r>
                    </a:p>
                  </a:txBody>
                  <a:tcPr marL="63500" marR="63500" marT="50800" marB="38100">
                    <a:solidFill>
                      <a:srgbClr val="FFFFFF"/>
                    </a:solidFill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1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Miller-Rabin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Primality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Probable prime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10" b="0">
                          <a:solidFill>
                            <a:srgbClr val="253746"/>
                          </a:solidFill>
                          <a:latin typeface="Calibri"/>
                          <a:ea typeface="Calibri"/>
                          <a:cs typeface="Calibri"/>
                        </a:rPr>
                        <a:t>Witness rounds</a:t>
                      </a:r>
                    </a:p>
                  </a:txBody>
                  <a:tcPr marL="63500" marR="63500" marT="50800" marB="3810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229BB18-CB7B-4553-A3B6-215EA990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608576"/>
            <a:ext cx="4005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Work = 2(n−1); span = 2·log₂ n. More processors help only until span D dominates.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9CE1499-7133-40B8-B8CB-74E76FB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855464"/>
            <a:ext cx="3383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253746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985440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62F427-DCF7-46AF-97D0-3D2EFA4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498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Implementation overview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889431-269F-421B-8B43-7D7CC47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chemeClr val="accent4"/>
                </a:solidFill>
              </a:rPr>
              <a:t>Java 17+ command-line application with connected DisasterNet menus</a:t>
            </a:r>
            <a:endParaRPr sz="1400"/>
          </a:p>
        </p:txBody>
      </p:sp>
      <p:graphicFrame>
        <p:nvGraphicFramePr>
          <p:cNvPr id="5" name="Chart 0">
            <a:extLst xmlns:a="http://schemas.openxmlformats.org/drawingml/2006/main">
              <a:ext uri="{FF2B5EF4-FFF2-40B4-BE49-F238E27FC236}">
                <a16:creationId xmlns:a16="http://schemas.microsoft.com/office/drawing/2014/main" id="{88DB70ED-2FD6-4511-AE35-C9CED7D4AD59}"/>
              </a:ext>
            </a:extLst>
          </p:cNvPr>
          <p:cNvGraphicFramePr/>
          <p:nvPr/>
        </p:nvGraphicFramePr>
        <p:xfrm>
          <a:off xmlns:a="http://schemas.openxmlformats.org/drawingml/2006/main" x="457200" y="1280160"/>
          <a:ext xmlns:a="http://schemas.openxmlformats.org/drawingml/2006/main" cx="4023360" cy="3383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4262a9e16f4baf"/>
          </a:graphicData>
        </a:graphic>
      </p:graphicFrame>
      <p:sp>
        <p:nvSpPr>
          <p:cNvPr id="6" name="Card Random vs oracle">
            <a:extLst xmlns:a="http://schemas.openxmlformats.org/drawingml/2006/main">
              <a:ext uri="{FF2B5EF4-FFF2-40B4-BE49-F238E27FC236}">
                <a16:creationId xmlns:a16="http://schemas.microsoft.com/office/drawing/2014/main" id="{D2EC0610-FFBF-4F9F-AAB0-97D02413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25880"/>
            <a:ext cx="40233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2700">
            <a:solidFill>
              <a:srgbClr val="EEF2F6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646A7CC-5B30-45D9-92D1-C0237281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371600"/>
            <a:ext cx="38039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</a:rPr>
              <a:t>Manage incidents, rescue teams, volunteers, shelters, resources, communications and observations.</a:t>
            </a:r>
            <a:endParaRPr sz="1400"/>
          </a:p>
        </p:txBody>
      </p:sp>
      <p:sp>
        <p:nvSpPr>
          <p:cNvPr id="8" name="Card Textbook values">
            <a:extLst xmlns:a="http://schemas.openxmlformats.org/drawingml/2006/main">
              <a:ext uri="{FF2B5EF4-FFF2-40B4-BE49-F238E27FC236}">
                <a16:creationId xmlns:a16="http://schemas.microsoft.com/office/drawing/2014/main" id="{BEAD7E98-6112-4064-939E-5A0EC40D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68880"/>
            <a:ext cx="40233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2700">
            <a:solidFill>
              <a:srgbClr val="EEF2F6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7292DAC-B527-49DB-A24F-0B22E48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514600"/>
            <a:ext cx="38039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</a:rPr>
              <a:t>Six modules cover string search, text indexes, dynamic programming, network flow, complexity and randomized/parallel methods.</a:t>
            </a:r>
            <a:endParaRPr sz="1400"/>
          </a:p>
        </p:txBody>
      </p:sp>
      <p:sp>
        <p:nvSpPr>
          <p:cNvPr id="10" name="Card Edge cases">
            <a:extLst xmlns:a="http://schemas.openxmlformats.org/drawingml/2006/main">
              <a:ext uri="{FF2B5EF4-FFF2-40B4-BE49-F238E27FC236}">
                <a16:creationId xmlns:a16="http://schemas.microsoft.com/office/drawing/2014/main" id="{C96D2B1A-E34B-484A-A466-45D3094A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11880"/>
            <a:ext cx="40233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2700">
            <a:solidFill>
              <a:srgbClr val="EEF2F6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1CCE590-5235-4837-BE73-7EA19323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57600"/>
            <a:ext cx="380390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1F33"/>
                </a:solidFill>
              </a:rPr>
              <a:t>Seeded sample records load at startup. Menu changes remain in memory for the current run.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39D9D1-578B-4394-BC47-655D679F037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r>
              <a:rPr sz="900">
                <a:solidFill>
                  <a:srgbClr val="25374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46452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8A0333-7306-43D6-AC3F-7B173227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498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Why these algorithms fit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58F710-DAF3-4496-A943-D624A26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chemeClr val="accent4"/>
                </a:solidFill>
              </a:rPr>
              <a:t>Match each response task to the operation it needs</a:t>
            </a:r>
            <a:endParaRPr sz="1400"/>
          </a:p>
        </p:txBody>
      </p:sp>
      <p:graphicFrame>
        <p:nvGraphicFramePr>
          <p:cNvPr id="18" name="Table 0">
            <a:extLst xmlns:a="http://schemas.openxmlformats.org/drawingml/2006/main">
              <a:ext uri="{FF2B5EF4-FFF2-40B4-BE49-F238E27FC236}">
                <a16:creationId xmlns:a16="http://schemas.microsoft.com/office/drawing/2014/main" id="{B84B24BA-3B7F-4F90-AACD-4AF3AD11BB24}"/>
              </a:ext>
            </a:extLst>
          </p:cNvPr>
          <p:cNvGraphicFramePr/>
          <p:nvPr/>
        </p:nvGraphicFramePr>
        <p:xfrm>
          <a:off xmlns:a="http://schemas.openxmlformats.org/drawingml/2006/main" x="457200" y="128016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1828800"/>
                <a:gridCol w="3749040"/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Need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0B1F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Find one alert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KMP / Z / RK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Search incident text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Find many alerts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Aho-Corasick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Search messages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Index report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Suffix array + LCP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Substring lookup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Correct a typo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Levenshtein / Damerau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Rank corrections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Select supplies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0/1 knapsack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Capacity limit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Plan matrix work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Matrix-chain DP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Order operations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Route relief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Dinic / max flow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Transfer model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Assign responders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Bipartite matching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Team-task pairs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Study constraints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B1F33"/>
                          </a:solidFill>
                          <a:latin typeface="Calibri"/>
                          <a:ea typeface="Calibri"/>
                          <a:cs typeface="Calibri"/>
                        </a:rPr>
                        <a:t>SAT / graph reductions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B2B3C"/>
                          </a:solidFill>
                          <a:latin typeface="Calibri"/>
                          <a:ea typeface="Calibri"/>
                          <a:cs typeface="Calibri"/>
                        </a:rPr>
                        <a:t>Small cases and bounds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27432" marB="27432" anchor="ctr">
                    <a:lnL w="6350" cmpd="sng">
                      <a:solidFill>
                        <a:srgbClr val="D5DCE4"/>
                      </a:solidFill>
                      <a:prstDash val="solid"/>
                    </a:lnL>
                    <a:lnR w="6350" cmpd="sng">
                      <a:solidFill>
                        <a:srgbClr val="D5DCE4"/>
                      </a:solidFill>
                      <a:prstDash val="solid"/>
                    </a:lnR>
                    <a:lnT w="6350" cmpd="sng">
                      <a:solidFill>
                        <a:srgbClr val="D5DCE4"/>
                      </a:solidFill>
                      <a:prstDash val="solid"/>
                    </a:lnT>
                    <a:lnB w="6350" cmpd="sng">
                      <a:solidFill>
                        <a:srgbClr val="D5DCE4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3BD067-5920-4662-B82A-6FEF5258074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r>
              <a:rPr sz="900">
                <a:solidFill>
                  <a:srgbClr val="25374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46806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620E5B-D623-4BBD-A2D2-A471855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498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Run DisasterNet from D:</a:t>
            </a:r>
            <a:endParaRPr sz="2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72D6CA-1705-46AA-A2EE-364DBAF6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chemeClr val="accent4"/>
                </a:solidFill>
              </a:rPr>
              <a:t>Open the project folder in VS Code and use its PowerShell terminal</a:t>
            </a:r>
            <a:endParaRPr sz="1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8910B8E-6856-4FC9-99B8-4F9B097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AC4EA81-357A-490D-A52A-FD3299A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1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7883DD1-1E15-4263-AB71-25C5F85D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37160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B2B3C"/>
                </a:solidFill>
              </a:rPr>
              <a:t>Open D:\DisasterNet-Updated in VS Code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AF4E9F1-F13C-4F31-8303-1E8B61E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04C6E0-8420-434A-BDB1-ADC63A88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2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7B694D3-ABEF-4929-BB67-19FA4CD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2024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B2B3C"/>
                </a:solidFill>
              </a:rPr>
              <a:t>Run .\build.ps1 from the project folder</a:t>
            </a:r>
            <a:endParaRPr sz="14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05305A7-41D1-4F53-A37C-C4D09CB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EF5131A-465D-49D8-A427-07CADC78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3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C206762-594F-4551-88BA-34630CF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6888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B2B3C"/>
                </a:solidFill>
              </a:rPr>
              <a:t>Start: java -cp target/classes edu.disasternet.Main</a:t>
            </a:r>
            <a:endParaRPr sz="14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48F3D67-6763-49E4-99ED-05A5373B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6D39687-1BE0-4915-A74E-D3783F9E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4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8CCF328-B8C6-4001-872F-108ED54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1752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B2B3C"/>
                </a:solidFill>
              </a:rPr>
              <a:t>Use numbered menus for incidents, teams, shelters and resources</a:t>
            </a:r>
            <a:endParaRPr sz="14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90007A8-1B8A-4314-B377-2CC40871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43C3CCB-25F4-48C1-9331-EDBD0D7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5</a:t>
            </a:r>
            <a:endParaRPr sz="1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24608C6-E6A3-4019-A8E0-C826E61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6616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B2B3C"/>
                </a:solidFill>
              </a:rPr>
              <a:t>Open menu option 7 for the algorithm laboratory</a:t>
            </a:r>
            <a:endParaRPr sz="14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9A9DF17-3ECE-492B-8A8E-49EB41C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408AFB4-1AFD-4BC7-BBF3-C7B4A01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6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D012A0B-2ABE-4996-8EE7-D8E5E2A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1480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B2B3C"/>
                </a:solidFill>
              </a:rPr>
              <a:t>Choose a module, run its example, then return with 0</a:t>
            </a:r>
            <a:endParaRPr sz="14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C1EF78E-2FB7-4B01-B204-F5D4AB24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71600"/>
            <a:ext cx="320040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E9D8DBF-2785-49D5-8F0C-C92BA6A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508760"/>
            <a:ext cx="28346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F2C14E"/>
                </a:solidFill>
                <a:latin typeface="Courier New"/>
                <a:ea typeface="Courier New"/>
                <a:cs typeface="Courier New"/>
              </a:rPr>
              <a:t>PS&gt; cd D:\DisasterNet-Updated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PS&gt; .\build.ps1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9FB6CC"/>
                </a:solidFill>
                <a:latin typeface="Courier New"/>
                <a:ea typeface="Courier New"/>
                <a:cs typeface="Courier New"/>
              </a:rPr>
              <a:t>PS&gt; java -cp target/classes edu.disasternet.Main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/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7BC47F"/>
                </a:solidFill>
                <a:latin typeface="Courier New"/>
                <a:ea typeface="Courier New"/>
                <a:cs typeface="Courier New"/>
              </a:rPr>
              <a:t>Requires JDK 17 or newer. Data resets when the app exits.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D4CFB1B-3C43-4D2E-B17B-8A4A8A59F33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A6580"/>
                </a:solidFill>
              </a:defRPr>
            </a:lvl1pPr>
          </a:lstStyle>
          <a:p xmlns:a="http://schemas.openxmlformats.org/drawingml/2006/main">
            <a:r>
              <a:rPr sz="900">
                <a:solidFill>
                  <a:srgbClr val="25374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41776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B04F25-02C5-4753-BAF4-5D23124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669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Summary</a:t>
            </a:r>
            <a:endParaRPr sz="4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5F1BDE-AF54-4A1C-BCFA-7A8278B7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669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ADCEB"/>
                </a:solidFill>
              </a:rPr>
              <a:t>Six DSA modules support a Java command-line tool for emergency coordination.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708560-2976-4103-B684-DBC4D7CD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chemeClr val="accent1"/>
                </a:solidFill>
              </a:rPr>
              <a:t>6</a:t>
            </a:r>
            <a:endParaRPr sz="5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70D0A5-4357-48CB-B905-771CA92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</a:rPr>
              <a:t>modules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06A38B-62E8-42F6-9DA3-4D79AD4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32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chemeClr val="accent1"/>
                </a:solidFill>
              </a:rPr>
              <a:t>7</a:t>
            </a:r>
            <a:endParaRPr sz="5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C72E749-3CF5-4876-9B81-E32E135F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</a:rPr>
              <a:t>operational data areas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39BE56-2E8D-48EE-852A-48BC74C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3832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chemeClr val="accent1"/>
                </a:solidFill>
              </a:rPr>
              <a:t>17+</a:t>
            </a:r>
            <a:endParaRPr sz="5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A4973A-CA53-43D1-9B0A-B737359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</a:rPr>
              <a:t>JDK requirement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51937818"/>
      </p:ext>
    </p:extLst>
  </p:cSld>
</p:sld>
</file>

<file path=ppt/theme/theme1.xml><?xml version="1.0" encoding="utf-8"?>
<a:theme xmlns:a="http://schemas.openxmlformats.org/drawingml/2006/main" name="AirportFlow">
  <a:themeElements>
    <a:clrScheme name="AirportFlow">
      <a:dk1>
        <a:srgbClr val="0B1F33"/>
      </a:dk1>
      <a:lt1>
        <a:srgbClr val="FFFFFF"/>
      </a:lt1>
      <a:dk2>
        <a:srgbClr val="14324F"/>
      </a:dk2>
      <a:lt2>
        <a:srgbClr val="EEF2F6"/>
      </a:lt2>
      <a:accent1>
        <a:srgbClr val="F2A900"/>
      </a:accent1>
      <a:accent2>
        <a:srgbClr val="1FA2A6"/>
      </a:accent2>
      <a:accent3>
        <a:srgbClr val="E4572E"/>
      </a:accent3>
      <a:accent4>
        <a:srgbClr val="4A6580"/>
      </a:accent4>
      <a:accent5>
        <a:srgbClr val="7BC47F"/>
      </a:accent5>
      <a:accent6>
        <a:srgbClr val="8E6BBF"/>
      </a:accent6>
      <a:hlink>
        <a:srgbClr val="1FA2A6"/>
      </a:hlink>
      <a:folHlink>
        <a:srgbClr val="4A6580"/>
      </a:folHlink>
    </a:clrScheme>
    <a:fontScheme name="Airport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irportFl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2026-10-16T04:38:38.5260000Z</dcterms:created>
  <dcterms:modified xsi:type="dcterms:W3CDTF">2026-10-16T04:38:38.5260000Z</dcterms:modified>
</coreProperties>
</file>